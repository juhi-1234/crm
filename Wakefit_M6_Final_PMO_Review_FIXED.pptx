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Budget</c:v>
                </c:pt>
              </c:strCache>
            </c:strRef>
          </c:tx>
          <c:spPr>
            <a:solidFill>
              <a:schemeClr val="accent1"/>
            </a:solidFill>
            <a:ln w="9525" cap="flat">
              <a:solidFill>
                <a:srgbClr val="F9F9F9"/>
              </a:solidFill>
              <a:prstDash val="solid"/>
              <a:round/>
            </a:ln>
            <a:effectLst/>
          </c:spPr>
          <c:dPt>
            <c:idx val="0"/>
            <c:bubble3D val="0"/>
            <c:spPr>
              <a:solidFill>
                <a:srgbClr val="1E2761"/>
              </a:solidFill>
              <a:effectLst/>
            </c:spPr>
          </c:dPt>
          <c:dPt>
            <c:idx val="1"/>
            <c:bubble3D val="0"/>
            <c:spPr>
              <a:solidFill>
                <a:srgbClr val="2B3A8C"/>
              </a:solidFill>
              <a:effectLst/>
            </c:spPr>
          </c:dPt>
          <c:dPt>
            <c:idx val="2"/>
            <c:bubble3D val="0"/>
            <c:spPr>
              <a:solidFill>
                <a:srgbClr val="4A5DB5"/>
              </a:solidFill>
              <a:effectLst/>
            </c:spPr>
          </c:dPt>
          <c:dPt>
            <c:idx val="3"/>
            <c:bubble3D val="0"/>
            <c:spPr>
              <a:solidFill>
                <a:srgbClr val="8FA3E0"/>
              </a:solidFill>
              <a:effectLst/>
            </c:spPr>
          </c:dPt>
          <c:dPt>
            <c:idx val="4"/>
            <c:bubble3D val="0"/>
            <c:spPr>
              <a:solidFill>
                <a:srgbClr val="B7C6EE"/>
              </a:solidFill>
              <a:effectLst/>
            </c:spPr>
          </c:dPt>
          <c:dPt>
            <c:idx val="5"/>
            <c:bubble3D val="0"/>
            <c:spPr>
              <a:solidFill>
                <a:srgbClr val="CADCFC"/>
              </a:solidFill>
              <a:effectLst/>
            </c:spPr>
          </c:dPt>
          <c:dLbls>
            <c:dLbl>
              <c:idx val="0"/>
              <c:numFmt formatCode="0%" sourceLinked="0"/>
              <c:spPr/>
              <c:txPr>
                <a:bodyPr/>
                <a:lstStyle/>
                <a:p>
                  <a:pPr>
                    <a:defRPr sz="850" b="0" i="0" u="none" strike="noStrike">
                      <a:solidFill>
                        <a:srgbClr val="FFFFFF"/>
                      </a:solidFill>
                      <a:latin typeface="Arial"/>
                    </a:defRPr>
                  </a:pPr>
                </a:p>
              </c:txPr>
              <c:showLegendKey val="0"/>
              <c:showVal val="0"/>
              <c:showCatName val="0"/>
              <c:showSerName val="0"/>
              <c:showPercent val="1"/>
              <c:showBubbleSize val="0"/>
            </c:dLbl>
            <c:dLbl>
              <c:idx val="1"/>
              <c:numFmt formatCode="0%" sourceLinked="0"/>
              <c:spPr/>
              <c:txPr>
                <a:bodyPr/>
                <a:lstStyle/>
                <a:p>
                  <a:pPr>
                    <a:defRPr sz="850" b="0" i="0" u="none" strike="noStrike">
                      <a:solidFill>
                        <a:srgbClr val="FFFFFF"/>
                      </a:solidFill>
                      <a:latin typeface="Arial"/>
                    </a:defRPr>
                  </a:pPr>
                </a:p>
              </c:txPr>
              <c:showLegendKey val="0"/>
              <c:showVal val="0"/>
              <c:showCatName val="0"/>
              <c:showSerName val="0"/>
              <c:showPercent val="1"/>
              <c:showBubbleSize val="0"/>
            </c:dLbl>
            <c:dLbl>
              <c:idx val="2"/>
              <c:numFmt formatCode="0%" sourceLinked="0"/>
              <c:spPr/>
              <c:txPr>
                <a:bodyPr/>
                <a:lstStyle/>
                <a:p>
                  <a:pPr>
                    <a:defRPr sz="850" b="0" i="0" u="none" strike="noStrike">
                      <a:solidFill>
                        <a:srgbClr val="FFFFFF"/>
                      </a:solidFill>
                      <a:latin typeface="Arial"/>
                    </a:defRPr>
                  </a:pPr>
                </a:p>
              </c:txPr>
              <c:showLegendKey val="0"/>
              <c:showVal val="0"/>
              <c:showCatName val="0"/>
              <c:showSerName val="0"/>
              <c:showPercent val="1"/>
              <c:showBubbleSize val="0"/>
            </c:dLbl>
            <c:dLbl>
              <c:idx val="3"/>
              <c:numFmt formatCode="0%" sourceLinked="0"/>
              <c:spPr/>
              <c:txPr>
                <a:bodyPr/>
                <a:lstStyle/>
                <a:p>
                  <a:pPr>
                    <a:defRPr sz="850" b="0" i="0" u="none" strike="noStrike">
                      <a:solidFill>
                        <a:srgbClr val="FFFFFF"/>
                      </a:solidFill>
                      <a:latin typeface="Arial"/>
                    </a:defRPr>
                  </a:pPr>
                </a:p>
              </c:txPr>
              <c:showLegendKey val="0"/>
              <c:showVal val="0"/>
              <c:showCatName val="0"/>
              <c:showSerName val="0"/>
              <c:showPercent val="1"/>
              <c:showBubbleSize val="0"/>
            </c:dLbl>
            <c:dLbl>
              <c:idx val="4"/>
              <c:numFmt formatCode="0%" sourceLinked="0"/>
              <c:spPr/>
              <c:txPr>
                <a:bodyPr/>
                <a:lstStyle/>
                <a:p>
                  <a:pPr>
                    <a:defRPr sz="850" b="0" i="0" u="none" strike="noStrike">
                      <a:solidFill>
                        <a:srgbClr val="FFFFFF"/>
                      </a:solidFill>
                      <a:latin typeface="Arial"/>
                    </a:defRPr>
                  </a:pPr>
                </a:p>
              </c:txPr>
              <c:showLegendKey val="0"/>
              <c:showVal val="0"/>
              <c:showCatName val="0"/>
              <c:showSerName val="0"/>
              <c:showPercent val="1"/>
              <c:showBubbleSize val="0"/>
            </c:dLbl>
            <c:dLbl>
              <c:idx val="5"/>
              <c:numFmt formatCode="0%" sourceLinked="0"/>
              <c:spPr/>
              <c:txPr>
                <a:bodyPr/>
                <a:lstStyle/>
                <a:p>
                  <a:pPr>
                    <a:defRPr sz="850" b="0" i="0" u="none" strike="noStrike">
                      <a:solidFill>
                        <a:srgbClr val="FFFFFF"/>
                      </a:solidFill>
                      <a:latin typeface="Arial"/>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Sheet1!$A$2:$A$7</c:f>
              <c:strCache>
                <c:ptCount val="6"/>
                <c:pt idx="0">
                  <c:v>Professional Fees</c:v>
                </c:pt>
                <c:pt idx="1">
                  <c:v>Site Visits &amp; Research</c:v>
                </c:pt>
                <c:pt idx="2">
                  <c:v>Market/Industry Data</c:v>
                </c:pt>
                <c:pt idx="3">
                  <c:v>Documentation &amp; Reporting</c:v>
                </c:pt>
                <c:pt idx="4">
                  <c:v>Tools &amp; Software</c:v>
                </c:pt>
                <c:pt idx="5">
                  <c:v>Contingency (~7%)</c:v>
                </c:pt>
              </c:strCache>
            </c:strRef>
          </c:cat>
          <c:val>
            <c:numRef>
              <c:f>Sheet1!$B$2:$B$7</c:f>
              <c:numCache>
                <c:ptCount val="6"/>
                <c:pt idx="0">
                  <c:v>100000</c:v>
                </c:pt>
                <c:pt idx="1">
                  <c:v>8000</c:v>
                </c:pt>
                <c:pt idx="2">
                  <c:v>5000</c:v>
                </c:pt>
                <c:pt idx="3">
                  <c:v>5000</c:v>
                </c:pt>
                <c:pt idx="4">
                  <c:v>6000</c:v>
                </c:pt>
                <c:pt idx="5">
                  <c:v>8000</c:v>
                </c:pt>
              </c:numCache>
            </c:numRef>
          </c:val>
        </c:ser>
        <c:firstSliceAng val="0"/>
        <c:holeSize val="55"/>
      </c:doughnutChart>
      <c:spPr>
        <a:noFill/>
        <a:ln>
          <a:noFill/>
        </a:ln>
        <a:effectLst/>
      </c:spPr>
    </c:plotArea>
    <c:legend>
      <c:legendPos val="b"/>
      <c:overlay val="0"/>
      <c:txPr>
        <a:bodyPr/>
        <a:lstStyle/>
        <a:p>
          <a:pPr>
            <a:defRPr sz="800">
              <a:solidFill>
                <a:srgbClr val="5B6B8C"/>
              </a:solidFil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Text 0"/>
          <p:cNvSpPr txBox="1"/>
          <p:nvPr/>
        </p:nvSpPr>
        <p:spPr>
          <a:xfrm>
            <a:off x="502920" y="594360"/>
            <a:ext cx="11185855" cy="320040"/>
          </a:xfrm>
          <a:prstGeom prst="rect">
            <a:avLst/>
          </a:prstGeom>
          <a:noFill/>
          <a:ln/>
        </p:spPr>
        <p:txBody>
          <a:bodyPr wrap="square" lIns="0" tIns="0" rIns="0" bIns="0" rtlCol="0" anchor="ctr"/>
          <a:lstStyle/>
          <a:p>
            <a:pPr indent="0" marL="0">
              <a:buNone/>
            </a:pPr>
            <a:r>
              <a:rPr lang="en-US" sz="1300" b="1" spc="200" kern="0" dirty="0">
                <a:solidFill>
                  <a:srgbClr val="CADCFC"/>
                </a:solidFill>
                <a:latin typeface="Calibri" pitchFamily="34" charset="0"/>
                <a:ea typeface="Calibri" pitchFamily="34" charset="-122"/>
                <a:cs typeface="Calibri" pitchFamily="34" charset="-120"/>
              </a:rPr>
              <a:t>FIIB PGDM CAPSTONE  |  PROJECT MANAGEMENT  |  LEARNING TEAM 6</a:t>
            </a:r>
            <a:endParaRPr lang="en-US" sz="1300" dirty="0"/>
          </a:p>
        </p:txBody>
      </p:sp>
      <p:sp>
        <p:nvSpPr>
          <p:cNvPr id="3" name="Text 1"/>
          <p:cNvSpPr txBox="1"/>
          <p:nvPr/>
        </p:nvSpPr>
        <p:spPr>
          <a:xfrm>
            <a:off x="502920" y="1051560"/>
            <a:ext cx="11185855" cy="1554480"/>
          </a:xfrm>
          <a:prstGeom prst="rect">
            <a:avLst/>
          </a:prstGeom>
          <a:noFill/>
          <a:ln/>
        </p:spPr>
        <p:txBody>
          <a:bodyPr wrap="square" lIns="0" tIns="0" rIns="0" bIns="0" rtlCol="0" anchor="ctr"/>
          <a:lstStyle/>
          <a:p>
            <a:pPr indent="0" marL="0">
              <a:lnSpc>
                <a:spcPct val="105000"/>
              </a:lnSpc>
              <a:buNone/>
            </a:pPr>
            <a:r>
              <a:rPr lang="en-US" sz="4200" b="1" dirty="0">
                <a:solidFill>
                  <a:srgbClr val="FFFFFF"/>
                </a:solidFill>
                <a:latin typeface="Cambria" pitchFamily="34" charset="0"/>
                <a:ea typeface="Cambria" pitchFamily="34" charset="-122"/>
                <a:cs typeface="Cambria" pitchFamily="34" charset="-120"/>
              </a:rPr>
              <a:t>Wakefit North India (Delhi NCR)</a:t>
            </a:r>
            <a:endParaRPr lang="en-US" sz="4200" dirty="0"/>
          </a:p>
          <a:p>
            <a:pPr indent="0" marL="0">
              <a:lnSpc>
                <a:spcPct val="105000"/>
              </a:lnSpc>
              <a:buNone/>
            </a:pPr>
            <a:r>
              <a:rPr lang="en-US" sz="4200" b="1" dirty="0">
                <a:solidFill>
                  <a:srgbClr val="FFFFFF"/>
                </a:solidFill>
                <a:latin typeface="Cambria" pitchFamily="34" charset="0"/>
                <a:ea typeface="Cambria" pitchFamily="34" charset="-122"/>
                <a:cs typeface="Cambria" pitchFamily="34" charset="-120"/>
              </a:rPr>
              <a:t>Offline Retail Expansion</a:t>
            </a:r>
            <a:endParaRPr lang="en-US" sz="4200" dirty="0"/>
          </a:p>
        </p:txBody>
      </p:sp>
      <p:sp>
        <p:nvSpPr>
          <p:cNvPr id="4" name="Text 2"/>
          <p:cNvSpPr txBox="1"/>
          <p:nvPr/>
        </p:nvSpPr>
        <p:spPr>
          <a:xfrm>
            <a:off x="502920" y="2542032"/>
            <a:ext cx="11185855" cy="457200"/>
          </a:xfrm>
          <a:prstGeom prst="rect">
            <a:avLst/>
          </a:prstGeom>
          <a:noFill/>
          <a:ln/>
        </p:spPr>
        <p:txBody>
          <a:bodyPr wrap="square" lIns="0" tIns="0" rIns="0" bIns="0" rtlCol="0" anchor="ctr"/>
          <a:lstStyle/>
          <a:p>
            <a:pPr indent="0" marL="0">
              <a:buNone/>
            </a:pPr>
            <a:r>
              <a:rPr lang="en-US" sz="1800" i="1" dirty="0">
                <a:solidFill>
                  <a:srgbClr val="CADCFC"/>
                </a:solidFill>
                <a:latin typeface="Calibri" pitchFamily="34" charset="0"/>
                <a:ea typeface="Calibri" pitchFamily="34" charset="-122"/>
                <a:cs typeface="Calibri" pitchFamily="34" charset="-120"/>
              </a:rPr>
              <a:t>A Hub-and-Spoke Rollout Strategy — Final PMO Review (M6)</a:t>
            </a:r>
            <a:endParaRPr lang="en-US" sz="1800" dirty="0"/>
          </a:p>
        </p:txBody>
      </p:sp>
      <p:sp>
        <p:nvSpPr>
          <p:cNvPr id="5" name="Shape 3"/>
          <p:cNvSpPr/>
          <p:nvPr/>
        </p:nvSpPr>
        <p:spPr>
          <a:xfrm>
            <a:off x="502920" y="3154680"/>
            <a:ext cx="11185855" cy="0"/>
          </a:xfrm>
          <a:prstGeom prst="line">
            <a:avLst/>
          </a:prstGeom>
          <a:noFill/>
          <a:ln w="12700">
            <a:solidFill>
              <a:srgbClr val="3A4A8A"/>
            </a:solidFill>
            <a:prstDash val="solid"/>
          </a:ln>
        </p:spPr>
      </p:sp>
      <p:sp>
        <p:nvSpPr>
          <p:cNvPr id="6" name="Text 4"/>
          <p:cNvSpPr txBox="1"/>
          <p:nvPr/>
        </p:nvSpPr>
        <p:spPr>
          <a:xfrm>
            <a:off x="502920" y="3383280"/>
            <a:ext cx="6537960" cy="1691640"/>
          </a:xfrm>
          <a:prstGeom prst="rect">
            <a:avLst/>
          </a:prstGeom>
          <a:noFill/>
          <a:ln/>
        </p:spPr>
        <p:txBody>
          <a:bodyPr wrap="square" lIns="0" tIns="0" rIns="0" bIns="0" rtlCol="0" anchor="ctr"/>
          <a:lstStyle/>
          <a:p>
            <a:pPr indent="0" marL="0">
              <a:lnSpc>
                <a:spcPct val="125000"/>
              </a:lnSpc>
              <a:buNone/>
            </a:pPr>
            <a:r>
              <a:rPr lang="en-US" sz="1350" dirty="0">
                <a:solidFill>
                  <a:srgbClr val="CADCFC"/>
                </a:solidFill>
                <a:latin typeface="Calibri" pitchFamily="34" charset="0"/>
                <a:ea typeface="Calibri" pitchFamily="34" charset="-122"/>
                <a:cs typeface="Calibri" pitchFamily="34" charset="-120"/>
              </a:rPr>
              <a:t>Wakefit went public in December 2025 to fund a pan-India expansion to 117 stores by FY28. Delhi NCR — its densest northern cluster, next to the company's only North India factory — is the natural hub for expansion into Rajasthan, Uttar Pradesh, Punjab and Himachal Pradesh, just as IKEA's own NCR rollout narrows the competitive window.</a:t>
            </a:r>
            <a:endParaRPr lang="en-US" sz="1350" dirty="0"/>
          </a:p>
        </p:txBody>
      </p:sp>
      <p:sp>
        <p:nvSpPr>
          <p:cNvPr id="7" name="Text 5"/>
          <p:cNvSpPr txBox="1"/>
          <p:nvPr/>
        </p:nvSpPr>
        <p:spPr>
          <a:xfrm>
            <a:off x="502920" y="5074920"/>
            <a:ext cx="6537960" cy="1051560"/>
          </a:xfrm>
          <a:prstGeom prst="rect">
            <a:avLst/>
          </a:prstGeom>
          <a:noFill/>
          <a:ln/>
        </p:spPr>
        <p:txBody>
          <a:bodyPr wrap="square" lIns="0" tIns="0" rIns="0" bIns="0" rtlCol="0" anchor="ctr"/>
          <a:lstStyle/>
          <a:p>
            <a:pPr indent="0" marL="0">
              <a:lnSpc>
                <a:spcPct val="125000"/>
              </a:lnSpc>
              <a:buNone/>
            </a:pPr>
            <a:r>
              <a:rPr lang="en-US" sz="1300" b="1" dirty="0">
                <a:solidFill>
                  <a:srgbClr val="FFFFFF"/>
                </a:solidFill>
                <a:latin typeface="Calibri" pitchFamily="34" charset="0"/>
                <a:ea typeface="Calibri" pitchFamily="34" charset="-122"/>
                <a:cs typeface="Calibri" pitchFamily="34" charset="-120"/>
              </a:rPr>
              <a:t>The Decision  </a:t>
            </a:r>
            <a:pPr indent="0" marL="0">
              <a:lnSpc>
                <a:spcPct val="125000"/>
              </a:lnSpc>
              <a:buNone/>
            </a:pPr>
            <a:r>
              <a:rPr lang="en-US" sz="1300" dirty="0">
                <a:solidFill>
                  <a:srgbClr val="CADCFC"/>
                </a:solidFill>
                <a:latin typeface="Calibri" pitchFamily="34" charset="0"/>
                <a:ea typeface="Calibri" pitchFamily="34" charset="-122"/>
                <a:cs typeface="Calibri" pitchFamily="34" charset="-120"/>
              </a:rPr>
              <a:t>In what order should Wakefit open its 20–25 new NCR-region stores, before IKEA's incoming large-format stores close the window? Delhi NCR is the supply hub, not a rollout target — new stores go to its 4 spoke markets. This project uses WBS, scheduling, PERT/CPM and risk management to answer that sequencing question.</a:t>
            </a:r>
            <a:endParaRPr lang="en-US" sz="1300" dirty="0"/>
          </a:p>
        </p:txBody>
      </p:sp>
      <p:sp>
        <p:nvSpPr>
          <p:cNvPr id="8" name="Shape 6"/>
          <p:cNvSpPr/>
          <p:nvPr/>
        </p:nvSpPr>
        <p:spPr>
          <a:xfrm>
            <a:off x="7360920" y="3383280"/>
            <a:ext cx="4160520" cy="534924"/>
          </a:xfrm>
          <a:prstGeom prst="roundRect">
            <a:avLst>
              <a:gd name="adj" fmla="val 13675"/>
            </a:avLst>
          </a:prstGeom>
          <a:solidFill>
            <a:srgbClr val="273579"/>
          </a:solidFill>
          <a:ln/>
          <a:effectLst>
            <a:outerShdw sx="100000" sy="100000" kx="0" ky="0" algn="bl" rotWithShape="0" blurRad="76200" dist="25400" dir="5400000">
              <a:srgbClr val="222222">
                <a:alpha val="12000"/>
              </a:srgbClr>
            </a:outerShdw>
          </a:effectLst>
        </p:spPr>
      </p:sp>
      <p:sp>
        <p:nvSpPr>
          <p:cNvPr id="9" name="Text 7"/>
          <p:cNvSpPr txBox="1"/>
          <p:nvPr/>
        </p:nvSpPr>
        <p:spPr>
          <a:xfrm>
            <a:off x="7589520" y="3438144"/>
            <a:ext cx="3703320" cy="294208"/>
          </a:xfrm>
          <a:prstGeom prst="rect">
            <a:avLst/>
          </a:prstGeom>
          <a:noFill/>
          <a:ln/>
        </p:spPr>
        <p:txBody>
          <a:bodyPr wrap="square" lIns="0" tIns="0" rIns="0" bIns="0" rtlCol="0" anchor="b"/>
          <a:lstStyle/>
          <a:p>
            <a:pPr indent="0" marL="0">
              <a:buNone/>
            </a:pPr>
            <a:r>
              <a:rPr lang="en-US" sz="2100" b="1" dirty="0">
                <a:solidFill>
                  <a:srgbClr val="FFFFFF"/>
                </a:solidFill>
                <a:latin typeface="Cambria" pitchFamily="34" charset="0"/>
                <a:ea typeface="Cambria" pitchFamily="34" charset="-122"/>
                <a:cs typeface="Cambria" pitchFamily="34" charset="-120"/>
              </a:rPr>
              <a:t>₹1,288.89 Cr</a:t>
            </a:r>
            <a:endParaRPr lang="en-US" sz="2100" dirty="0"/>
          </a:p>
        </p:txBody>
      </p:sp>
      <p:sp>
        <p:nvSpPr>
          <p:cNvPr id="10" name="Text 8"/>
          <p:cNvSpPr txBox="1"/>
          <p:nvPr/>
        </p:nvSpPr>
        <p:spPr>
          <a:xfrm>
            <a:off x="7589520" y="3693536"/>
            <a:ext cx="3703320" cy="213970"/>
          </a:xfrm>
          <a:prstGeom prst="rect">
            <a:avLst/>
          </a:prstGeom>
          <a:noFill/>
          <a:ln/>
        </p:spPr>
        <p:txBody>
          <a:bodyPr wrap="square" lIns="0" tIns="0" rIns="0" bIns="0" rtlCol="0" anchor="ctr"/>
          <a:lstStyle/>
          <a:p>
            <a:pPr indent="0" marL="0">
              <a:buNone/>
            </a:pPr>
            <a:r>
              <a:rPr lang="en-US" sz="1050" dirty="0">
                <a:solidFill>
                  <a:srgbClr val="CADCFC"/>
                </a:solidFill>
                <a:latin typeface="Calibri" pitchFamily="34" charset="0"/>
                <a:ea typeface="Calibri" pitchFamily="34" charset="-122"/>
                <a:cs typeface="Calibri" pitchFamily="34" charset="-120"/>
              </a:rPr>
              <a:t>IPO raised, Dec 2025</a:t>
            </a:r>
            <a:endParaRPr lang="en-US" sz="1050" dirty="0"/>
          </a:p>
        </p:txBody>
      </p:sp>
      <p:sp>
        <p:nvSpPr>
          <p:cNvPr id="11" name="Shape 9"/>
          <p:cNvSpPr/>
          <p:nvPr/>
        </p:nvSpPr>
        <p:spPr>
          <a:xfrm>
            <a:off x="7360920" y="4119372"/>
            <a:ext cx="4160520" cy="534924"/>
          </a:xfrm>
          <a:prstGeom prst="roundRect">
            <a:avLst>
              <a:gd name="adj" fmla="val 13675"/>
            </a:avLst>
          </a:prstGeom>
          <a:solidFill>
            <a:srgbClr val="273579"/>
          </a:solidFill>
          <a:ln/>
          <a:effectLst>
            <a:outerShdw sx="100000" sy="100000" kx="0" ky="0" algn="bl" rotWithShape="0" blurRad="76200" dist="25400" dir="5400000">
              <a:srgbClr val="222222">
                <a:alpha val="12000"/>
              </a:srgbClr>
            </a:outerShdw>
          </a:effectLst>
        </p:spPr>
      </p:sp>
      <p:sp>
        <p:nvSpPr>
          <p:cNvPr id="12" name="Text 10"/>
          <p:cNvSpPr txBox="1"/>
          <p:nvPr/>
        </p:nvSpPr>
        <p:spPr>
          <a:xfrm>
            <a:off x="7589520" y="4174236"/>
            <a:ext cx="3703320" cy="294208"/>
          </a:xfrm>
          <a:prstGeom prst="rect">
            <a:avLst/>
          </a:prstGeom>
          <a:noFill/>
          <a:ln/>
        </p:spPr>
        <p:txBody>
          <a:bodyPr wrap="square" lIns="0" tIns="0" rIns="0" bIns="0" rtlCol="0" anchor="b"/>
          <a:lstStyle/>
          <a:p>
            <a:pPr indent="0" marL="0">
              <a:buNone/>
            </a:pPr>
            <a:r>
              <a:rPr lang="en-US" sz="2100" b="1" dirty="0">
                <a:solidFill>
                  <a:srgbClr val="FFFFFF"/>
                </a:solidFill>
                <a:latin typeface="Cambria" pitchFamily="34" charset="0"/>
                <a:ea typeface="Cambria" pitchFamily="34" charset="-122"/>
                <a:cs typeface="Cambria" pitchFamily="34" charset="-120"/>
              </a:rPr>
              <a:t>117 stores</a:t>
            </a:r>
            <a:endParaRPr lang="en-US" sz="2100" dirty="0"/>
          </a:p>
        </p:txBody>
      </p:sp>
      <p:sp>
        <p:nvSpPr>
          <p:cNvPr id="13" name="Text 11"/>
          <p:cNvSpPr txBox="1"/>
          <p:nvPr/>
        </p:nvSpPr>
        <p:spPr>
          <a:xfrm>
            <a:off x="7589520" y="4429628"/>
            <a:ext cx="3703320" cy="213970"/>
          </a:xfrm>
          <a:prstGeom prst="rect">
            <a:avLst/>
          </a:prstGeom>
          <a:noFill/>
          <a:ln/>
        </p:spPr>
        <p:txBody>
          <a:bodyPr wrap="square" lIns="0" tIns="0" rIns="0" bIns="0" rtlCol="0" anchor="ctr"/>
          <a:lstStyle/>
          <a:p>
            <a:pPr indent="0" marL="0">
              <a:buNone/>
            </a:pPr>
            <a:r>
              <a:rPr lang="en-US" sz="1050" dirty="0">
                <a:solidFill>
                  <a:srgbClr val="CADCFC"/>
                </a:solidFill>
                <a:latin typeface="Calibri" pitchFamily="34" charset="0"/>
                <a:ea typeface="Calibri" pitchFamily="34" charset="-122"/>
                <a:cs typeface="Calibri" pitchFamily="34" charset="-120"/>
              </a:rPr>
              <a:t>Pan-India target, FY27–28</a:t>
            </a:r>
            <a:endParaRPr lang="en-US" sz="1050" dirty="0"/>
          </a:p>
        </p:txBody>
      </p:sp>
      <p:sp>
        <p:nvSpPr>
          <p:cNvPr id="14" name="Shape 12"/>
          <p:cNvSpPr/>
          <p:nvPr/>
        </p:nvSpPr>
        <p:spPr>
          <a:xfrm>
            <a:off x="7360920" y="4855464"/>
            <a:ext cx="4160520" cy="534924"/>
          </a:xfrm>
          <a:prstGeom prst="roundRect">
            <a:avLst>
              <a:gd name="adj" fmla="val 13675"/>
            </a:avLst>
          </a:prstGeom>
          <a:solidFill>
            <a:srgbClr val="273579"/>
          </a:solidFill>
          <a:ln/>
          <a:effectLst>
            <a:outerShdw sx="100000" sy="100000" kx="0" ky="0" algn="bl" rotWithShape="0" blurRad="76200" dist="25400" dir="5400000">
              <a:srgbClr val="222222">
                <a:alpha val="12000"/>
              </a:srgbClr>
            </a:outerShdw>
          </a:effectLst>
        </p:spPr>
      </p:sp>
      <p:sp>
        <p:nvSpPr>
          <p:cNvPr id="15" name="Text 13"/>
          <p:cNvSpPr txBox="1"/>
          <p:nvPr/>
        </p:nvSpPr>
        <p:spPr>
          <a:xfrm>
            <a:off x="7589520" y="4910328"/>
            <a:ext cx="3703320" cy="294208"/>
          </a:xfrm>
          <a:prstGeom prst="rect">
            <a:avLst/>
          </a:prstGeom>
          <a:noFill/>
          <a:ln/>
        </p:spPr>
        <p:txBody>
          <a:bodyPr wrap="square" lIns="0" tIns="0" rIns="0" bIns="0" rtlCol="0" anchor="b"/>
          <a:lstStyle/>
          <a:p>
            <a:pPr indent="0" marL="0">
              <a:buNone/>
            </a:pPr>
            <a:r>
              <a:rPr lang="en-US" sz="2100" b="1" dirty="0">
                <a:solidFill>
                  <a:srgbClr val="FFFFFF"/>
                </a:solidFill>
                <a:latin typeface="Cambria" pitchFamily="34" charset="0"/>
                <a:ea typeface="Cambria" pitchFamily="34" charset="-122"/>
                <a:cs typeface="Cambria" pitchFamily="34" charset="-120"/>
              </a:rPr>
              <a:t>20–25 stores</a:t>
            </a:r>
            <a:endParaRPr lang="en-US" sz="2100" dirty="0"/>
          </a:p>
        </p:txBody>
      </p:sp>
      <p:sp>
        <p:nvSpPr>
          <p:cNvPr id="16" name="Text 14"/>
          <p:cNvSpPr txBox="1"/>
          <p:nvPr/>
        </p:nvSpPr>
        <p:spPr>
          <a:xfrm>
            <a:off x="7589520" y="5165720"/>
            <a:ext cx="3703320" cy="213970"/>
          </a:xfrm>
          <a:prstGeom prst="rect">
            <a:avLst/>
          </a:prstGeom>
          <a:noFill/>
          <a:ln/>
        </p:spPr>
        <p:txBody>
          <a:bodyPr wrap="square" lIns="0" tIns="0" rIns="0" bIns="0" rtlCol="0" anchor="ctr"/>
          <a:lstStyle/>
          <a:p>
            <a:pPr indent="0" marL="0">
              <a:buNone/>
            </a:pPr>
            <a:r>
              <a:rPr lang="en-US" sz="1050" dirty="0">
                <a:solidFill>
                  <a:srgbClr val="CADCFC"/>
                </a:solidFill>
                <a:latin typeface="Calibri" pitchFamily="34" charset="0"/>
                <a:ea typeface="Calibri" pitchFamily="34" charset="-122"/>
                <a:cs typeface="Calibri" pitchFamily="34" charset="-120"/>
              </a:rPr>
              <a:t>NCR region's proportional share</a:t>
            </a:r>
            <a:endParaRPr lang="en-US" sz="1050" dirty="0"/>
          </a:p>
        </p:txBody>
      </p:sp>
      <p:sp>
        <p:nvSpPr>
          <p:cNvPr id="17" name="Shape 15"/>
          <p:cNvSpPr/>
          <p:nvPr/>
        </p:nvSpPr>
        <p:spPr>
          <a:xfrm>
            <a:off x="7360920" y="5591556"/>
            <a:ext cx="4160520" cy="534924"/>
          </a:xfrm>
          <a:prstGeom prst="roundRect">
            <a:avLst>
              <a:gd name="adj" fmla="val 13675"/>
            </a:avLst>
          </a:prstGeom>
          <a:solidFill>
            <a:srgbClr val="273579"/>
          </a:solidFill>
          <a:ln/>
          <a:effectLst>
            <a:outerShdw sx="100000" sy="100000" kx="0" ky="0" algn="bl" rotWithShape="0" blurRad="76200" dist="25400" dir="5400000">
              <a:srgbClr val="222222">
                <a:alpha val="12000"/>
              </a:srgbClr>
            </a:outerShdw>
          </a:effectLst>
        </p:spPr>
      </p:sp>
      <p:sp>
        <p:nvSpPr>
          <p:cNvPr id="18" name="Text 16"/>
          <p:cNvSpPr txBox="1"/>
          <p:nvPr/>
        </p:nvSpPr>
        <p:spPr>
          <a:xfrm>
            <a:off x="7589520" y="5646420"/>
            <a:ext cx="3703320" cy="294208"/>
          </a:xfrm>
          <a:prstGeom prst="rect">
            <a:avLst/>
          </a:prstGeom>
          <a:noFill/>
          <a:ln/>
        </p:spPr>
        <p:txBody>
          <a:bodyPr wrap="square" lIns="0" tIns="0" rIns="0" bIns="0" rtlCol="0" anchor="b"/>
          <a:lstStyle/>
          <a:p>
            <a:pPr indent="0" marL="0">
              <a:buNone/>
            </a:pPr>
            <a:r>
              <a:rPr lang="en-US" sz="2100" b="1" dirty="0">
                <a:solidFill>
                  <a:srgbClr val="FFFFFF"/>
                </a:solidFill>
                <a:latin typeface="Cambria" pitchFamily="34" charset="0"/>
                <a:ea typeface="Cambria" pitchFamily="34" charset="-122"/>
                <a:cs typeface="Cambria" pitchFamily="34" charset="-120"/>
              </a:rPr>
              <a:t>4 spoke markets</a:t>
            </a:r>
            <a:endParaRPr lang="en-US" sz="2100" dirty="0"/>
          </a:p>
        </p:txBody>
      </p:sp>
      <p:sp>
        <p:nvSpPr>
          <p:cNvPr id="19" name="Text 17"/>
          <p:cNvSpPr txBox="1"/>
          <p:nvPr/>
        </p:nvSpPr>
        <p:spPr>
          <a:xfrm>
            <a:off x="7589520" y="5901812"/>
            <a:ext cx="3703320" cy="213970"/>
          </a:xfrm>
          <a:prstGeom prst="rect">
            <a:avLst/>
          </a:prstGeom>
          <a:noFill/>
          <a:ln/>
        </p:spPr>
        <p:txBody>
          <a:bodyPr wrap="square" lIns="0" tIns="0" rIns="0" bIns="0" rtlCol="0" anchor="ctr"/>
          <a:lstStyle/>
          <a:p>
            <a:pPr indent="0" marL="0">
              <a:buNone/>
            </a:pPr>
            <a:r>
              <a:rPr lang="en-US" sz="1050" dirty="0">
                <a:solidFill>
                  <a:srgbClr val="CADCFC"/>
                </a:solidFill>
                <a:latin typeface="Calibri" pitchFamily="34" charset="0"/>
                <a:ea typeface="Calibri" pitchFamily="34" charset="-122"/>
                <a:cs typeface="Calibri" pitchFamily="34" charset="-120"/>
              </a:rPr>
              <a:t>Jaipur · Lucknow · Punjab · HP</a:t>
            </a:r>
            <a:endParaRPr lang="en-US" sz="1050" dirty="0"/>
          </a:p>
        </p:txBody>
      </p:sp>
      <p:sp>
        <p:nvSpPr>
          <p:cNvPr id="20" name="Text 18"/>
          <p:cNvSpPr txBox="1"/>
          <p:nvPr/>
        </p:nvSpPr>
        <p:spPr>
          <a:xfrm>
            <a:off x="502920" y="6355080"/>
            <a:ext cx="11185855" cy="274320"/>
          </a:xfrm>
          <a:prstGeom prst="rect">
            <a:avLst/>
          </a:prstGeom>
          <a:noFill/>
          <a:ln/>
        </p:spPr>
        <p:txBody>
          <a:bodyPr wrap="square" lIns="0" tIns="0" rIns="0" bIns="0" rtlCol="0" anchor="ctr"/>
          <a:lstStyle/>
          <a:p>
            <a:pPr indent="0" marL="0">
              <a:buNone/>
            </a:pPr>
            <a:r>
              <a:rPr lang="en-US" sz="1050" dirty="0">
                <a:solidFill>
                  <a:srgbClr val="5B6B8C"/>
                </a:solidFill>
                <a:latin typeface="Calibri" pitchFamily="34" charset="0"/>
                <a:ea typeface="Calibri" pitchFamily="34" charset="-122"/>
                <a:cs typeface="Calibri" pitchFamily="34" charset="-120"/>
              </a:rPr>
              <a:t>Team: Chandni Choudhary (PM)  ·  Ankesh Kumar (Operations)  ·  Juhi Varshney (Marketing)  ·  Mayank Jain (Finance)</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57200"/>
            <a:ext cx="457200" cy="457200"/>
          </a:xfrm>
          <a:prstGeom prst="ellipse">
            <a:avLst/>
          </a:prstGeom>
          <a:solidFill>
            <a:srgbClr val="1E2761"/>
          </a:solidFill>
          <a:ln/>
        </p:spPr>
      </p:sp>
      <p:sp>
        <p:nvSpPr>
          <p:cNvPr id="3" name="Text 1"/>
          <p:cNvSpPr txBox="1"/>
          <p:nvPr/>
        </p:nvSpPr>
        <p:spPr>
          <a:xfrm>
            <a:off x="502920" y="4572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4" name="Text 2"/>
          <p:cNvSpPr txBox="1"/>
          <p:nvPr/>
        </p:nvSpPr>
        <p:spPr>
          <a:xfrm>
            <a:off x="1124712" y="384048"/>
            <a:ext cx="8229600" cy="274320"/>
          </a:xfrm>
          <a:prstGeom prst="rect">
            <a:avLst/>
          </a:prstGeom>
          <a:noFill/>
          <a:ln/>
        </p:spPr>
        <p:txBody>
          <a:bodyPr wrap="square" lIns="0" tIns="0" rIns="0" bIns="0" rtlCol="0" anchor="ctr"/>
          <a:lstStyle/>
          <a:p>
            <a:pPr indent="0" marL="0">
              <a:buNone/>
            </a:pPr>
            <a:r>
              <a:rPr lang="en-US" sz="1200" b="1" spc="150" kern="0" dirty="0">
                <a:solidFill>
                  <a:srgbClr val="5B6B8C"/>
                </a:solidFill>
                <a:latin typeface="Calibri" pitchFamily="34" charset="0"/>
                <a:ea typeface="Calibri" pitchFamily="34" charset="-122"/>
                <a:cs typeface="Calibri" pitchFamily="34" charset="-120"/>
              </a:rPr>
              <a:t>MARKET ASSESSMENT · WHICH SPOKE, AND WHY</a:t>
            </a:r>
            <a:endParaRPr lang="en-US" sz="1200" dirty="0"/>
          </a:p>
        </p:txBody>
      </p:sp>
      <p:sp>
        <p:nvSpPr>
          <p:cNvPr id="5" name="Text 3"/>
          <p:cNvSpPr txBox="1"/>
          <p:nvPr/>
        </p:nvSpPr>
        <p:spPr>
          <a:xfrm>
            <a:off x="1124712" y="621792"/>
            <a:ext cx="10564063" cy="566928"/>
          </a:xfrm>
          <a:prstGeom prst="rect">
            <a:avLst/>
          </a:prstGeom>
          <a:noFill/>
          <a:ln/>
        </p:spPr>
        <p:txBody>
          <a:bodyPr wrap="square" lIns="0" tIns="0" rIns="0" bIns="0" rtlCol="0" anchor="ctr"/>
          <a:lstStyle/>
          <a:p>
            <a:pPr indent="0" marL="0">
              <a:buNone/>
            </a:pPr>
            <a:r>
              <a:rPr lang="en-US" sz="2700" b="1" dirty="0">
                <a:solidFill>
                  <a:srgbClr val="1E2761"/>
                </a:solidFill>
                <a:latin typeface="Cambria" pitchFamily="34" charset="0"/>
                <a:ea typeface="Cambria" pitchFamily="34" charset="-122"/>
                <a:cs typeface="Cambria" pitchFamily="34" charset="-120"/>
              </a:rPr>
              <a:t>Market Opportunity &amp; Competitive Risk</a:t>
            </a:r>
            <a:endParaRPr lang="en-US" sz="2700" dirty="0"/>
          </a:p>
        </p:txBody>
      </p:sp>
      <p:sp>
        <p:nvSpPr>
          <p:cNvPr id="6" name="Text 4"/>
          <p:cNvSpPr txBox="1"/>
          <p:nvPr/>
        </p:nvSpPr>
        <p:spPr>
          <a:xfrm>
            <a:off x="502920" y="1417320"/>
            <a:ext cx="6263640" cy="292608"/>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Spoke Market Priority — from the NCR / Sonipat Hub</a:t>
            </a:r>
            <a:endParaRPr lang="en-US" sz="1300" dirty="0"/>
          </a:p>
        </p:txBody>
      </p:sp>
      <p:sp>
        <p:nvSpPr>
          <p:cNvPr id="7" name="Shape 5"/>
          <p:cNvSpPr/>
          <p:nvPr/>
        </p:nvSpPr>
        <p:spPr>
          <a:xfrm>
            <a:off x="502920" y="1801368"/>
            <a:ext cx="6263640" cy="786384"/>
          </a:xfrm>
          <a:prstGeom prst="roundRect">
            <a:avLst>
              <a:gd name="adj" fmla="val 9302"/>
            </a:avLst>
          </a:prstGeom>
          <a:solidFill>
            <a:srgbClr val="CADCFC"/>
          </a:solidFill>
          <a:ln/>
          <a:effectLst>
            <a:outerShdw sx="100000" sy="100000" kx="0" ky="0" algn="bl" rotWithShape="0" blurRad="76200" dist="25400" dir="5400000">
              <a:srgbClr val="222222">
                <a:alpha val="12000"/>
              </a:srgbClr>
            </a:outerShdw>
          </a:effectLst>
        </p:spPr>
      </p:sp>
      <p:sp>
        <p:nvSpPr>
          <p:cNvPr id="8" name="Shape 6"/>
          <p:cNvSpPr/>
          <p:nvPr/>
        </p:nvSpPr>
        <p:spPr>
          <a:xfrm>
            <a:off x="649224" y="2020824"/>
            <a:ext cx="347472" cy="347472"/>
          </a:xfrm>
          <a:prstGeom prst="ellipse">
            <a:avLst/>
          </a:prstGeom>
          <a:solidFill>
            <a:srgbClr val="1E2761"/>
          </a:solidFill>
          <a:ln/>
        </p:spPr>
      </p:sp>
      <p:sp>
        <p:nvSpPr>
          <p:cNvPr id="9" name="Text 7"/>
          <p:cNvSpPr txBox="1"/>
          <p:nvPr/>
        </p:nvSpPr>
        <p:spPr>
          <a:xfrm>
            <a:off x="649224" y="2020824"/>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0" name="Text 8"/>
          <p:cNvSpPr txBox="1"/>
          <p:nvPr/>
        </p:nvSpPr>
        <p:spPr>
          <a:xfrm>
            <a:off x="1124712" y="1883664"/>
            <a:ext cx="2377440" cy="292608"/>
          </a:xfrm>
          <a:prstGeom prst="rect">
            <a:avLst/>
          </a:prstGeom>
          <a:noFill/>
          <a:ln/>
        </p:spPr>
        <p:txBody>
          <a:bodyPr wrap="square" lIns="0" tIns="0" rIns="0" bIns="0" rtlCol="0" anchor="ctr"/>
          <a:lstStyle/>
          <a:p>
            <a:pPr indent="0" marL="0">
              <a:buNone/>
            </a:pPr>
            <a:r>
              <a:rPr lang="en-US" sz="1450" b="1" dirty="0">
                <a:solidFill>
                  <a:srgbClr val="1B1F33"/>
                </a:solidFill>
                <a:latin typeface="Cambria" pitchFamily="34" charset="0"/>
                <a:ea typeface="Cambria" pitchFamily="34" charset="-122"/>
                <a:cs typeface="Cambria" pitchFamily="34" charset="-120"/>
              </a:rPr>
              <a:t>Jaipur</a:t>
            </a:r>
            <a:endParaRPr lang="en-US" sz="1450" dirty="0"/>
          </a:p>
        </p:txBody>
      </p:sp>
      <p:sp>
        <p:nvSpPr>
          <p:cNvPr id="11" name="Text 9"/>
          <p:cNvSpPr txBox="1"/>
          <p:nvPr/>
        </p:nvSpPr>
        <p:spPr>
          <a:xfrm>
            <a:off x="5166360" y="1911096"/>
            <a:ext cx="1417320" cy="256032"/>
          </a:xfrm>
          <a:prstGeom prst="rect">
            <a:avLst/>
          </a:prstGeom>
          <a:noFill/>
          <a:ln/>
        </p:spPr>
        <p:txBody>
          <a:bodyPr wrap="square" lIns="0" tIns="0" rIns="0" bIns="0" rtlCol="0" anchor="ctr"/>
          <a:lstStyle/>
          <a:p>
            <a:pPr algn="r" indent="0" marL="0">
              <a:buNone/>
            </a:pPr>
            <a:r>
              <a:rPr lang="en-US" sz="950" b="1" dirty="0">
                <a:solidFill>
                  <a:srgbClr val="5B6B8C"/>
                </a:solidFill>
                <a:latin typeface="Calibri" pitchFamily="34" charset="0"/>
                <a:ea typeface="Calibri" pitchFamily="34" charset="-122"/>
                <a:cs typeface="Calibri" pitchFamily="34" charset="-120"/>
              </a:rPr>
              <a:t>Existing</a:t>
            </a:r>
            <a:endParaRPr lang="en-US" sz="950" dirty="0"/>
          </a:p>
        </p:txBody>
      </p:sp>
      <p:sp>
        <p:nvSpPr>
          <p:cNvPr id="12" name="Text 10"/>
          <p:cNvSpPr txBox="1"/>
          <p:nvPr/>
        </p:nvSpPr>
        <p:spPr>
          <a:xfrm>
            <a:off x="1124712" y="2185416"/>
            <a:ext cx="5440680" cy="365760"/>
          </a:xfrm>
          <a:prstGeom prst="rect">
            <a:avLst/>
          </a:prstGeom>
          <a:noFill/>
          <a:ln/>
        </p:spPr>
        <p:txBody>
          <a:bodyPr wrap="square" lIns="0" tIns="0" rIns="0" bIns="0" rtlCol="0" anchor="ctr"/>
          <a:lstStyle/>
          <a:p>
            <a:pPr indent="0" marL="0">
              <a:lnSpc>
                <a:spcPct val="110000"/>
              </a:lnSpc>
              <a:buNone/>
            </a:pPr>
            <a:r>
              <a:rPr lang="en-US" sz="1050" dirty="0">
                <a:solidFill>
                  <a:srgbClr val="5B6B8C"/>
                </a:solidFill>
                <a:latin typeface="Calibri" pitchFamily="34" charset="0"/>
                <a:ea typeface="Calibri" pitchFamily="34" charset="-122"/>
                <a:cs typeface="Calibri" pitchFamily="34" charset="-120"/>
              </a:rPr>
              <a:t>Practical road connectivity; strongest near-term fit</a:t>
            </a:r>
            <a:endParaRPr lang="en-US" sz="1050" dirty="0"/>
          </a:p>
        </p:txBody>
      </p:sp>
      <p:sp>
        <p:nvSpPr>
          <p:cNvPr id="13" name="Shape 11"/>
          <p:cNvSpPr/>
          <p:nvPr/>
        </p:nvSpPr>
        <p:spPr>
          <a:xfrm>
            <a:off x="502920" y="2697480"/>
            <a:ext cx="6263640" cy="786384"/>
          </a:xfrm>
          <a:prstGeom prst="roundRect">
            <a:avLst>
              <a:gd name="adj" fmla="val 9302"/>
            </a:avLst>
          </a:prstGeom>
          <a:solidFill>
            <a:srgbClr val="EEF3FC"/>
          </a:solidFill>
          <a:ln/>
          <a:effectLst>
            <a:outerShdw sx="100000" sy="100000" kx="0" ky="0" algn="bl" rotWithShape="0" blurRad="76200" dist="25400" dir="5400000">
              <a:srgbClr val="222222">
                <a:alpha val="12000"/>
              </a:srgbClr>
            </a:outerShdw>
          </a:effectLst>
        </p:spPr>
      </p:sp>
      <p:sp>
        <p:nvSpPr>
          <p:cNvPr id="14" name="Shape 12"/>
          <p:cNvSpPr/>
          <p:nvPr/>
        </p:nvSpPr>
        <p:spPr>
          <a:xfrm>
            <a:off x="649224" y="2916936"/>
            <a:ext cx="347472" cy="347472"/>
          </a:xfrm>
          <a:prstGeom prst="ellipse">
            <a:avLst/>
          </a:prstGeom>
          <a:solidFill>
            <a:srgbClr val="1E2761"/>
          </a:solidFill>
          <a:ln/>
        </p:spPr>
      </p:sp>
      <p:sp>
        <p:nvSpPr>
          <p:cNvPr id="15" name="Text 13"/>
          <p:cNvSpPr txBox="1"/>
          <p:nvPr/>
        </p:nvSpPr>
        <p:spPr>
          <a:xfrm>
            <a:off x="649224" y="2916936"/>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6" name="Text 14"/>
          <p:cNvSpPr txBox="1"/>
          <p:nvPr/>
        </p:nvSpPr>
        <p:spPr>
          <a:xfrm>
            <a:off x="1124712" y="2779776"/>
            <a:ext cx="2377440" cy="292608"/>
          </a:xfrm>
          <a:prstGeom prst="rect">
            <a:avLst/>
          </a:prstGeom>
          <a:noFill/>
          <a:ln/>
        </p:spPr>
        <p:txBody>
          <a:bodyPr wrap="square" lIns="0" tIns="0" rIns="0" bIns="0" rtlCol="0" anchor="ctr"/>
          <a:lstStyle/>
          <a:p>
            <a:pPr indent="0" marL="0">
              <a:buNone/>
            </a:pPr>
            <a:r>
              <a:rPr lang="en-US" sz="1450" b="1" dirty="0">
                <a:solidFill>
                  <a:srgbClr val="1B1F33"/>
                </a:solidFill>
                <a:latin typeface="Cambria" pitchFamily="34" charset="0"/>
                <a:ea typeface="Cambria" pitchFamily="34" charset="-122"/>
                <a:cs typeface="Cambria" pitchFamily="34" charset="-120"/>
              </a:rPr>
              <a:t>Lucknow</a:t>
            </a:r>
            <a:endParaRPr lang="en-US" sz="1450" dirty="0"/>
          </a:p>
        </p:txBody>
      </p:sp>
      <p:sp>
        <p:nvSpPr>
          <p:cNvPr id="17" name="Text 15"/>
          <p:cNvSpPr txBox="1"/>
          <p:nvPr/>
        </p:nvSpPr>
        <p:spPr>
          <a:xfrm>
            <a:off x="5166360" y="2807208"/>
            <a:ext cx="1417320" cy="256032"/>
          </a:xfrm>
          <a:prstGeom prst="rect">
            <a:avLst/>
          </a:prstGeom>
          <a:noFill/>
          <a:ln/>
        </p:spPr>
        <p:txBody>
          <a:bodyPr wrap="square" lIns="0" tIns="0" rIns="0" bIns="0" rtlCol="0" anchor="ctr"/>
          <a:lstStyle/>
          <a:p>
            <a:pPr algn="r" indent="0" marL="0">
              <a:buNone/>
            </a:pPr>
            <a:r>
              <a:rPr lang="en-US" sz="950" b="1" dirty="0">
                <a:solidFill>
                  <a:srgbClr val="5B6B8C"/>
                </a:solidFill>
                <a:latin typeface="Calibri" pitchFamily="34" charset="0"/>
                <a:ea typeface="Calibri" pitchFamily="34" charset="-122"/>
                <a:cs typeface="Calibri" pitchFamily="34" charset="-120"/>
              </a:rPr>
              <a:t>Existing</a:t>
            </a:r>
            <a:endParaRPr lang="en-US" sz="950" dirty="0"/>
          </a:p>
        </p:txBody>
      </p:sp>
      <p:sp>
        <p:nvSpPr>
          <p:cNvPr id="18" name="Text 16"/>
          <p:cNvSpPr txBox="1"/>
          <p:nvPr/>
        </p:nvSpPr>
        <p:spPr>
          <a:xfrm>
            <a:off x="1124712" y="3081528"/>
            <a:ext cx="5440680" cy="365760"/>
          </a:xfrm>
          <a:prstGeom prst="rect">
            <a:avLst/>
          </a:prstGeom>
          <a:noFill/>
          <a:ln/>
        </p:spPr>
        <p:txBody>
          <a:bodyPr wrap="square" lIns="0" tIns="0" rIns="0" bIns="0" rtlCol="0" anchor="ctr"/>
          <a:lstStyle/>
          <a:p>
            <a:pPr indent="0" marL="0">
              <a:lnSpc>
                <a:spcPct val="110000"/>
              </a:lnSpc>
              <a:buNone/>
            </a:pPr>
            <a:r>
              <a:rPr lang="en-US" sz="1050" dirty="0">
                <a:solidFill>
                  <a:srgbClr val="5B6B8C"/>
                </a:solidFill>
                <a:latin typeface="Calibri" pitchFamily="34" charset="0"/>
                <a:ea typeface="Calibri" pitchFamily="34" charset="-122"/>
                <a:cs typeface="Calibri" pitchFamily="34" charset="-120"/>
              </a:rPr>
              <a:t>Strong market potential; needs longer replenishment planning</a:t>
            </a:r>
            <a:endParaRPr lang="en-US" sz="1050" dirty="0"/>
          </a:p>
        </p:txBody>
      </p:sp>
      <p:sp>
        <p:nvSpPr>
          <p:cNvPr id="19" name="Shape 17"/>
          <p:cNvSpPr/>
          <p:nvPr/>
        </p:nvSpPr>
        <p:spPr>
          <a:xfrm>
            <a:off x="502920" y="3593592"/>
            <a:ext cx="6263640" cy="786384"/>
          </a:xfrm>
          <a:prstGeom prst="roundRect">
            <a:avLst>
              <a:gd name="adj" fmla="val 9302"/>
            </a:avLst>
          </a:prstGeom>
          <a:solidFill>
            <a:srgbClr val="EEF3FC"/>
          </a:solidFill>
          <a:ln/>
          <a:effectLst>
            <a:outerShdw sx="100000" sy="100000" kx="0" ky="0" algn="bl" rotWithShape="0" blurRad="76200" dist="25400" dir="5400000">
              <a:srgbClr val="222222">
                <a:alpha val="12000"/>
              </a:srgbClr>
            </a:outerShdw>
          </a:effectLst>
        </p:spPr>
      </p:sp>
      <p:sp>
        <p:nvSpPr>
          <p:cNvPr id="20" name="Shape 18"/>
          <p:cNvSpPr/>
          <p:nvPr/>
        </p:nvSpPr>
        <p:spPr>
          <a:xfrm>
            <a:off x="649224" y="3813048"/>
            <a:ext cx="347472" cy="347472"/>
          </a:xfrm>
          <a:prstGeom prst="ellipse">
            <a:avLst/>
          </a:prstGeom>
          <a:solidFill>
            <a:srgbClr val="1E2761"/>
          </a:solidFill>
          <a:ln/>
        </p:spPr>
      </p:sp>
      <p:sp>
        <p:nvSpPr>
          <p:cNvPr id="21" name="Text 19"/>
          <p:cNvSpPr txBox="1"/>
          <p:nvPr/>
        </p:nvSpPr>
        <p:spPr>
          <a:xfrm>
            <a:off x="649224" y="3813048"/>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2" name="Text 20"/>
          <p:cNvSpPr txBox="1"/>
          <p:nvPr/>
        </p:nvSpPr>
        <p:spPr>
          <a:xfrm>
            <a:off x="1124712" y="3675888"/>
            <a:ext cx="2377440" cy="292608"/>
          </a:xfrm>
          <a:prstGeom prst="rect">
            <a:avLst/>
          </a:prstGeom>
          <a:noFill/>
          <a:ln/>
        </p:spPr>
        <p:txBody>
          <a:bodyPr wrap="square" lIns="0" tIns="0" rIns="0" bIns="0" rtlCol="0" anchor="ctr"/>
          <a:lstStyle/>
          <a:p>
            <a:pPr indent="0" marL="0">
              <a:buNone/>
            </a:pPr>
            <a:r>
              <a:rPr lang="en-US" sz="1450" b="1" dirty="0">
                <a:solidFill>
                  <a:srgbClr val="1B1F33"/>
                </a:solidFill>
                <a:latin typeface="Cambria" pitchFamily="34" charset="0"/>
                <a:ea typeface="Cambria" pitchFamily="34" charset="-122"/>
                <a:cs typeface="Cambria" pitchFamily="34" charset="-120"/>
              </a:rPr>
              <a:t>Punjab / Mohali</a:t>
            </a:r>
            <a:endParaRPr lang="en-US" sz="1450" dirty="0"/>
          </a:p>
        </p:txBody>
      </p:sp>
      <p:sp>
        <p:nvSpPr>
          <p:cNvPr id="23" name="Text 21"/>
          <p:cNvSpPr txBox="1"/>
          <p:nvPr/>
        </p:nvSpPr>
        <p:spPr>
          <a:xfrm>
            <a:off x="5166360" y="3703320"/>
            <a:ext cx="1417320" cy="256032"/>
          </a:xfrm>
          <a:prstGeom prst="rect">
            <a:avLst/>
          </a:prstGeom>
          <a:noFill/>
          <a:ln/>
        </p:spPr>
        <p:txBody>
          <a:bodyPr wrap="square" lIns="0" tIns="0" rIns="0" bIns="0" rtlCol="0" anchor="ctr"/>
          <a:lstStyle/>
          <a:p>
            <a:pPr algn="r" indent="0" marL="0">
              <a:buNone/>
            </a:pPr>
            <a:r>
              <a:rPr lang="en-US" sz="950" b="1" dirty="0">
                <a:solidFill>
                  <a:srgbClr val="5B6B8C"/>
                </a:solidFill>
                <a:latin typeface="Calibri" pitchFamily="34" charset="0"/>
                <a:ea typeface="Calibri" pitchFamily="34" charset="-122"/>
                <a:cs typeface="Calibri" pitchFamily="34" charset="-120"/>
              </a:rPr>
              <a:t>Existing</a:t>
            </a:r>
            <a:endParaRPr lang="en-US" sz="950" dirty="0"/>
          </a:p>
        </p:txBody>
      </p:sp>
      <p:sp>
        <p:nvSpPr>
          <p:cNvPr id="24" name="Text 22"/>
          <p:cNvSpPr txBox="1"/>
          <p:nvPr/>
        </p:nvSpPr>
        <p:spPr>
          <a:xfrm>
            <a:off x="1124712" y="3977640"/>
            <a:ext cx="5440680" cy="365760"/>
          </a:xfrm>
          <a:prstGeom prst="rect">
            <a:avLst/>
          </a:prstGeom>
          <a:noFill/>
          <a:ln/>
        </p:spPr>
        <p:txBody>
          <a:bodyPr wrap="square" lIns="0" tIns="0" rIns="0" bIns="0" rtlCol="0" anchor="ctr"/>
          <a:lstStyle/>
          <a:p>
            <a:pPr indent="0" marL="0">
              <a:lnSpc>
                <a:spcPct val="110000"/>
              </a:lnSpc>
              <a:buNone/>
            </a:pPr>
            <a:r>
              <a:rPr lang="en-US" sz="1050" dirty="0">
                <a:solidFill>
                  <a:srgbClr val="5B6B8C"/>
                </a:solidFill>
                <a:latin typeface="Calibri" pitchFamily="34" charset="0"/>
                <a:ea typeface="Calibri" pitchFamily="34" charset="-122"/>
                <a:cs typeface="Calibri" pitchFamily="34" charset="-120"/>
              </a:rPr>
              <a:t>Attractive, but needs assessment beyond Mohali city</a:t>
            </a:r>
            <a:endParaRPr lang="en-US" sz="1050" dirty="0"/>
          </a:p>
        </p:txBody>
      </p:sp>
      <p:sp>
        <p:nvSpPr>
          <p:cNvPr id="25" name="Shape 23"/>
          <p:cNvSpPr/>
          <p:nvPr/>
        </p:nvSpPr>
        <p:spPr>
          <a:xfrm>
            <a:off x="502920" y="4489704"/>
            <a:ext cx="6263640" cy="786384"/>
          </a:xfrm>
          <a:prstGeom prst="roundRect">
            <a:avLst>
              <a:gd name="adj" fmla="val 9302"/>
            </a:avLst>
          </a:prstGeom>
          <a:solidFill>
            <a:srgbClr val="EEF3FC"/>
          </a:solidFill>
          <a:ln/>
          <a:effectLst>
            <a:outerShdw sx="100000" sy="100000" kx="0" ky="0" algn="bl" rotWithShape="0" blurRad="76200" dist="25400" dir="5400000">
              <a:srgbClr val="222222">
                <a:alpha val="12000"/>
              </a:srgbClr>
            </a:outerShdw>
          </a:effectLst>
        </p:spPr>
      </p:sp>
      <p:sp>
        <p:nvSpPr>
          <p:cNvPr id="26" name="Shape 24"/>
          <p:cNvSpPr/>
          <p:nvPr/>
        </p:nvSpPr>
        <p:spPr>
          <a:xfrm>
            <a:off x="649224" y="4709160"/>
            <a:ext cx="347472" cy="347472"/>
          </a:xfrm>
          <a:prstGeom prst="ellipse">
            <a:avLst/>
          </a:prstGeom>
          <a:solidFill>
            <a:srgbClr val="1E2761"/>
          </a:solidFill>
          <a:ln/>
        </p:spPr>
      </p:sp>
      <p:sp>
        <p:nvSpPr>
          <p:cNvPr id="27" name="Text 25"/>
          <p:cNvSpPr txBox="1"/>
          <p:nvPr/>
        </p:nvSpPr>
        <p:spPr>
          <a:xfrm>
            <a:off x="649224" y="470916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8" name="Text 26"/>
          <p:cNvSpPr txBox="1"/>
          <p:nvPr/>
        </p:nvSpPr>
        <p:spPr>
          <a:xfrm>
            <a:off x="1124712" y="4572000"/>
            <a:ext cx="2377440" cy="292608"/>
          </a:xfrm>
          <a:prstGeom prst="rect">
            <a:avLst/>
          </a:prstGeom>
          <a:noFill/>
          <a:ln/>
        </p:spPr>
        <p:txBody>
          <a:bodyPr wrap="square" lIns="0" tIns="0" rIns="0" bIns="0" rtlCol="0" anchor="ctr"/>
          <a:lstStyle/>
          <a:p>
            <a:pPr indent="0" marL="0">
              <a:buNone/>
            </a:pPr>
            <a:r>
              <a:rPr lang="en-US" sz="1450" b="1" dirty="0">
                <a:solidFill>
                  <a:srgbClr val="1B1F33"/>
                </a:solidFill>
                <a:latin typeface="Cambria" pitchFamily="34" charset="0"/>
                <a:ea typeface="Cambria" pitchFamily="34" charset="-122"/>
                <a:cs typeface="Cambria" pitchFamily="34" charset="-120"/>
              </a:rPr>
              <a:t>Himachal Pradesh</a:t>
            </a:r>
            <a:endParaRPr lang="en-US" sz="1450" dirty="0"/>
          </a:p>
        </p:txBody>
      </p:sp>
      <p:sp>
        <p:nvSpPr>
          <p:cNvPr id="29" name="Text 27"/>
          <p:cNvSpPr txBox="1"/>
          <p:nvPr/>
        </p:nvSpPr>
        <p:spPr>
          <a:xfrm>
            <a:off x="5166360" y="4599432"/>
            <a:ext cx="1417320" cy="256032"/>
          </a:xfrm>
          <a:prstGeom prst="rect">
            <a:avLst/>
          </a:prstGeom>
          <a:noFill/>
          <a:ln/>
        </p:spPr>
        <p:txBody>
          <a:bodyPr wrap="square" lIns="0" tIns="0" rIns="0" bIns="0" rtlCol="0" anchor="ctr"/>
          <a:lstStyle/>
          <a:p>
            <a:pPr algn="r" indent="0" marL="0">
              <a:buNone/>
            </a:pPr>
            <a:r>
              <a:rPr lang="en-US" sz="950" b="1" dirty="0">
                <a:solidFill>
                  <a:srgbClr val="B23A3A"/>
                </a:solidFill>
                <a:latin typeface="Calibri" pitchFamily="34" charset="0"/>
                <a:ea typeface="Calibri" pitchFamily="34" charset="-122"/>
                <a:cs typeface="Calibri" pitchFamily="34" charset="-120"/>
              </a:rPr>
              <a:t>Greenfield</a:t>
            </a:r>
            <a:endParaRPr lang="en-US" sz="950" dirty="0"/>
          </a:p>
        </p:txBody>
      </p:sp>
      <p:sp>
        <p:nvSpPr>
          <p:cNvPr id="30" name="Text 28"/>
          <p:cNvSpPr txBox="1"/>
          <p:nvPr/>
        </p:nvSpPr>
        <p:spPr>
          <a:xfrm>
            <a:off x="1124712" y="4873752"/>
            <a:ext cx="5440680" cy="365760"/>
          </a:xfrm>
          <a:prstGeom prst="rect">
            <a:avLst/>
          </a:prstGeom>
          <a:noFill/>
          <a:ln/>
        </p:spPr>
        <p:txBody>
          <a:bodyPr wrap="square" lIns="0" tIns="0" rIns="0" bIns="0" rtlCol="0" anchor="ctr"/>
          <a:lstStyle/>
          <a:p>
            <a:pPr indent="0" marL="0">
              <a:lnSpc>
                <a:spcPct val="110000"/>
              </a:lnSpc>
              <a:buNone/>
            </a:pPr>
            <a:r>
              <a:rPr lang="en-US" sz="1050" dirty="0">
                <a:solidFill>
                  <a:srgbClr val="5B6B8C"/>
                </a:solidFill>
                <a:latin typeface="Calibri" pitchFamily="34" charset="0"/>
                <a:ea typeface="Calibri" pitchFamily="34" charset="-122"/>
                <a:cs typeface="Calibri" pitchFamily="34" charset="-120"/>
              </a:rPr>
              <a:t>Selective approach — terrain &amp; delivery economics are harder</a:t>
            </a:r>
            <a:endParaRPr lang="en-US" sz="1050" dirty="0"/>
          </a:p>
        </p:txBody>
      </p:sp>
      <p:sp>
        <p:nvSpPr>
          <p:cNvPr id="31" name="Shape 29"/>
          <p:cNvSpPr/>
          <p:nvPr/>
        </p:nvSpPr>
        <p:spPr>
          <a:xfrm>
            <a:off x="6995160" y="1417320"/>
            <a:ext cx="4693615" cy="2103120"/>
          </a:xfrm>
          <a:prstGeom prst="roundRect">
            <a:avLst>
              <a:gd name="adj" fmla="val 3478"/>
            </a:avLst>
          </a:prstGeom>
          <a:solidFill>
            <a:srgbClr val="1E2761"/>
          </a:solidFill>
          <a:ln/>
          <a:effectLst>
            <a:outerShdw sx="100000" sy="100000" kx="0" ky="0" algn="bl" rotWithShape="0" blurRad="76200" dist="25400" dir="5400000">
              <a:srgbClr val="222222">
                <a:alpha val="12000"/>
              </a:srgbClr>
            </a:outerShdw>
          </a:effectLst>
        </p:spPr>
      </p:sp>
      <p:sp>
        <p:nvSpPr>
          <p:cNvPr id="32" name="Text 30"/>
          <p:cNvSpPr txBox="1"/>
          <p:nvPr/>
        </p:nvSpPr>
        <p:spPr>
          <a:xfrm>
            <a:off x="7223760" y="1572768"/>
            <a:ext cx="4236415" cy="256032"/>
          </a:xfrm>
          <a:prstGeom prst="rect">
            <a:avLst/>
          </a:prstGeom>
          <a:noFill/>
          <a:ln/>
        </p:spPr>
        <p:txBody>
          <a:bodyPr wrap="square" lIns="0" tIns="0" rIns="0" bIns="0" rtlCol="0" anchor="ctr"/>
          <a:lstStyle/>
          <a:p>
            <a:pPr indent="0" marL="0">
              <a:buNone/>
            </a:pPr>
            <a:r>
              <a:rPr lang="en-US" sz="1050" b="1" spc="100" kern="0" dirty="0">
                <a:solidFill>
                  <a:srgbClr val="CADCFC"/>
                </a:solidFill>
                <a:latin typeface="Calibri" pitchFamily="34" charset="0"/>
                <a:ea typeface="Calibri" pitchFamily="34" charset="-122"/>
                <a:cs typeface="Calibri" pitchFamily="34" charset="-120"/>
              </a:rPr>
              <a:t>EXISTING WAKEFIT FOOTPRINT</a:t>
            </a:r>
            <a:endParaRPr lang="en-US" sz="1050" dirty="0"/>
          </a:p>
        </p:txBody>
      </p:sp>
      <p:sp>
        <p:nvSpPr>
          <p:cNvPr id="33" name="Text 31"/>
          <p:cNvSpPr txBox="1"/>
          <p:nvPr/>
        </p:nvSpPr>
        <p:spPr>
          <a:xfrm>
            <a:off x="7223760" y="1810512"/>
            <a:ext cx="4236415" cy="45720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~20 stores</a:t>
            </a:r>
            <a:endParaRPr lang="en-US" sz="2600" dirty="0"/>
          </a:p>
        </p:txBody>
      </p:sp>
      <p:sp>
        <p:nvSpPr>
          <p:cNvPr id="34" name="Text 32"/>
          <p:cNvSpPr txBox="1"/>
          <p:nvPr/>
        </p:nvSpPr>
        <p:spPr>
          <a:xfrm>
            <a:off x="7223760" y="2286000"/>
            <a:ext cx="4236415" cy="777240"/>
          </a:xfrm>
          <a:prstGeom prst="rect">
            <a:avLst/>
          </a:prstGeom>
          <a:noFill/>
          <a:ln/>
        </p:spPr>
        <p:txBody>
          <a:bodyPr wrap="square" lIns="0" tIns="0" rIns="0" bIns="0" rtlCol="0" anchor="ctr"/>
          <a:lstStyle/>
          <a:p>
            <a:pPr indent="0" marL="0">
              <a:lnSpc>
                <a:spcPct val="120000"/>
              </a:lnSpc>
              <a:buNone/>
            </a:pPr>
            <a:r>
              <a:rPr lang="en-US" sz="1050" dirty="0">
                <a:solidFill>
                  <a:srgbClr val="CADCFC"/>
                </a:solidFill>
                <a:latin typeface="Calibri" pitchFamily="34" charset="0"/>
                <a:ea typeface="Calibri" pitchFamily="34" charset="-122"/>
                <a:cs typeface="Calibri" pitchFamily="34" charset="-120"/>
              </a:rPr>
              <a:t>already open in the Delhi NCR hub itself. Spokes add their own separate base — Jaipur (2), Lucknow (3), Mohali (5) — vs. zero in Himachal Pradesh.</a:t>
            </a:r>
            <a:endParaRPr lang="en-US" sz="1050" dirty="0"/>
          </a:p>
        </p:txBody>
      </p:sp>
      <p:sp>
        <p:nvSpPr>
          <p:cNvPr id="35" name="Text 33"/>
          <p:cNvSpPr txBox="1"/>
          <p:nvPr/>
        </p:nvSpPr>
        <p:spPr>
          <a:xfrm>
            <a:off x="7223760" y="3063240"/>
            <a:ext cx="4236415" cy="411480"/>
          </a:xfrm>
          <a:prstGeom prst="rect">
            <a:avLst/>
          </a:prstGeom>
          <a:noFill/>
          <a:ln/>
        </p:spPr>
        <p:txBody>
          <a:bodyPr wrap="square" lIns="0" tIns="0" rIns="0" bIns="0" rtlCol="0" anchor="ctr"/>
          <a:lstStyle/>
          <a:p>
            <a:pPr indent="0" marL="0">
              <a:buNone/>
            </a:pPr>
            <a:r>
              <a:rPr lang="en-US" sz="900" i="1" dirty="0">
                <a:solidFill>
                  <a:srgbClr val="CADCFC"/>
                </a:solidFill>
                <a:latin typeface="Calibri" pitchFamily="34" charset="0"/>
                <a:ea typeface="Calibri" pitchFamily="34" charset="-122"/>
                <a:cs typeface="Calibri" pitchFamily="34" charset="-120"/>
              </a:rPr>
              <a:t>Insight: for Jaipur/Lucknow/Mohali this is about deepening network density, not first-time market entry.</a:t>
            </a:r>
            <a:endParaRPr lang="en-US" sz="900" dirty="0"/>
          </a:p>
        </p:txBody>
      </p:sp>
      <p:sp>
        <p:nvSpPr>
          <p:cNvPr id="36" name="Shape 34"/>
          <p:cNvSpPr/>
          <p:nvPr/>
        </p:nvSpPr>
        <p:spPr>
          <a:xfrm>
            <a:off x="6995160" y="3703320"/>
            <a:ext cx="4693615" cy="1691640"/>
          </a:xfrm>
          <a:prstGeom prst="roundRect">
            <a:avLst>
              <a:gd name="adj" fmla="val 4324"/>
            </a:avLst>
          </a:prstGeom>
          <a:solidFill>
            <a:srgbClr val="EEF3FC"/>
          </a:solidFill>
          <a:ln/>
          <a:effectLst>
            <a:outerShdw sx="100000" sy="100000" kx="0" ky="0" algn="bl" rotWithShape="0" blurRad="76200" dist="25400" dir="5400000">
              <a:srgbClr val="222222">
                <a:alpha val="12000"/>
              </a:srgbClr>
            </a:outerShdw>
          </a:effectLst>
        </p:spPr>
      </p:sp>
      <p:sp>
        <p:nvSpPr>
          <p:cNvPr id="37" name="Shape 35"/>
          <p:cNvSpPr/>
          <p:nvPr/>
        </p:nvSpPr>
        <p:spPr>
          <a:xfrm>
            <a:off x="7196328" y="3886200"/>
            <a:ext cx="384048" cy="384048"/>
          </a:xfrm>
          <a:prstGeom prst="ellipse">
            <a:avLst/>
          </a:prstGeom>
          <a:solidFill>
            <a:srgbClr val="B23A3A"/>
          </a:solidFill>
          <a:ln/>
        </p:spPr>
      </p:sp>
      <p:sp>
        <p:nvSpPr>
          <p:cNvPr id="38" name="Text 36"/>
          <p:cNvSpPr txBox="1"/>
          <p:nvPr/>
        </p:nvSpPr>
        <p:spPr>
          <a:xfrm>
            <a:off x="7196328" y="3886200"/>
            <a:ext cx="384048" cy="384048"/>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39" name="Text 37"/>
          <p:cNvSpPr txBox="1"/>
          <p:nvPr/>
        </p:nvSpPr>
        <p:spPr>
          <a:xfrm>
            <a:off x="7726680" y="3858768"/>
            <a:ext cx="3779215" cy="274320"/>
          </a:xfrm>
          <a:prstGeom prst="rect">
            <a:avLst/>
          </a:prstGeom>
          <a:noFill/>
          <a:ln/>
        </p:spPr>
        <p:txBody>
          <a:bodyPr wrap="square" lIns="0" tIns="0" rIns="0" bIns="0" rtlCol="0" anchor="ctr"/>
          <a:lstStyle/>
          <a:p>
            <a:pPr indent="0" marL="0">
              <a:buNone/>
            </a:pPr>
            <a:r>
              <a:rPr lang="en-US" sz="1050" b="1" dirty="0">
                <a:solidFill>
                  <a:srgbClr val="B23A3A"/>
                </a:solidFill>
                <a:latin typeface="Calibri" pitchFamily="34" charset="0"/>
                <a:ea typeface="Calibri" pitchFamily="34" charset="-122"/>
                <a:cs typeface="Calibri" pitchFamily="34" charset="-120"/>
              </a:rPr>
              <a:t>COMPETITIVE TRIGGER — IKEA</a:t>
            </a:r>
            <a:endParaRPr lang="en-US" sz="1050" dirty="0"/>
          </a:p>
        </p:txBody>
      </p:sp>
      <p:sp>
        <p:nvSpPr>
          <p:cNvPr id="40" name="Text 38"/>
          <p:cNvSpPr txBox="1"/>
          <p:nvPr/>
        </p:nvSpPr>
        <p:spPr>
          <a:xfrm>
            <a:off x="7223760" y="4224528"/>
            <a:ext cx="4236415" cy="274320"/>
          </a:xfrm>
          <a:prstGeom prst="rect">
            <a:avLst/>
          </a:prstGeom>
          <a:noFill/>
          <a:ln/>
        </p:spPr>
        <p:txBody>
          <a:bodyPr wrap="square" lIns="0" tIns="0" rIns="0" bIns="0" rtlCol="0" anchor="ctr"/>
          <a:lstStyle/>
          <a:p>
            <a:pPr indent="0" marL="0">
              <a:buNone/>
            </a:pPr>
            <a:r>
              <a:rPr lang="en-US" sz="1300" b="1" dirty="0">
                <a:solidFill>
                  <a:srgbClr val="1B1F33"/>
                </a:solidFill>
                <a:latin typeface="Cambria" pitchFamily="34" charset="0"/>
                <a:ea typeface="Cambria" pitchFamily="34" charset="-122"/>
                <a:cs typeface="Cambria" pitchFamily="34" charset="-120"/>
              </a:rPr>
              <a:t>Gurugram opens 2026 · Noida opens 2028</a:t>
            </a:r>
            <a:endParaRPr lang="en-US" sz="1300" dirty="0"/>
          </a:p>
        </p:txBody>
      </p:sp>
      <p:sp>
        <p:nvSpPr>
          <p:cNvPr id="41" name="Text 39"/>
          <p:cNvSpPr txBox="1"/>
          <p:nvPr/>
        </p:nvSpPr>
        <p:spPr>
          <a:xfrm>
            <a:off x="7223760" y="4526280"/>
            <a:ext cx="4236415" cy="777240"/>
          </a:xfrm>
          <a:prstGeom prst="rect">
            <a:avLst/>
          </a:prstGeom>
          <a:noFill/>
          <a:ln/>
        </p:spPr>
        <p:txBody>
          <a:bodyPr wrap="square" lIns="0" tIns="0" rIns="0" bIns="0" rtlCol="0" anchor="ctr"/>
          <a:lstStyle/>
          <a:p>
            <a:pPr indent="0" marL="0">
              <a:lnSpc>
                <a:spcPct val="120000"/>
              </a:lnSpc>
              <a:buNone/>
            </a:pPr>
            <a:r>
              <a:rPr lang="en-US" sz="1000" dirty="0">
                <a:solidFill>
                  <a:srgbClr val="5B6B8C"/>
                </a:solidFill>
                <a:latin typeface="Calibri" pitchFamily="34" charset="0"/>
                <a:ea typeface="Calibri" pitchFamily="34" charset="-122"/>
                <a:cs typeface="Calibri" pitchFamily="34" charset="-120"/>
              </a:rPr>
              <a:t>IKEA's entry raises the stakes inside the NCR hub itself — reinforcing why Wakefit's incremental growth is being sequenced outward into the spoke markets, on a disciplined, prioritised timeline rather than blanket simultaneous entry.</a:t>
            </a:r>
            <a:endParaRPr lang="en-US" sz="1000" dirty="0"/>
          </a:p>
        </p:txBody>
      </p:sp>
      <p:sp>
        <p:nvSpPr>
          <p:cNvPr id="42" name="Text 40"/>
          <p:cNvSpPr txBox="1"/>
          <p:nvPr/>
        </p:nvSpPr>
        <p:spPr>
          <a:xfrm>
            <a:off x="502920" y="6492240"/>
            <a:ext cx="11185855" cy="274320"/>
          </a:xfrm>
          <a:prstGeom prst="rect">
            <a:avLst/>
          </a:prstGeom>
          <a:noFill/>
          <a:ln/>
        </p:spPr>
        <p:txBody>
          <a:bodyPr wrap="square" lIns="0" tIns="0" rIns="0" bIns="0" rtlCol="0" anchor="ctr"/>
          <a:lstStyle/>
          <a:p>
            <a:pPr indent="0" marL="0">
              <a:buNone/>
            </a:pPr>
            <a:r>
              <a:rPr lang="en-US" sz="900" dirty="0">
                <a:solidFill>
                  <a:srgbClr val="5B6B8C"/>
                </a:solidFill>
                <a:latin typeface="Calibri" pitchFamily="34" charset="0"/>
                <a:ea typeface="Calibri" pitchFamily="34" charset="-122"/>
                <a:cs typeface="Calibri" pitchFamily="34" charset="-120"/>
              </a:rPr>
              <a:t>Source: Wakefit RHP (IIFL/IDBI Capital, Groww); RoC filings (Entrackr); IKEA/Ingka timelines (Business Standard); Wakefit store locator, Aug 2026.</a:t>
            </a:r>
            <a:endParaRPr lang="en-US" sz="900" dirty="0"/>
          </a:p>
        </p:txBody>
      </p:sp>
      <p:sp>
        <p:nvSpPr>
          <p:cNvPr id="43" name="Text 41"/>
          <p:cNvSpPr txBox="1"/>
          <p:nvPr/>
        </p:nvSpPr>
        <p:spPr>
          <a:xfrm>
            <a:off x="8945575" y="6492240"/>
            <a:ext cx="2743200" cy="274320"/>
          </a:xfrm>
          <a:prstGeom prst="rect">
            <a:avLst/>
          </a:prstGeom>
          <a:noFill/>
          <a:ln/>
        </p:spPr>
        <p:txBody>
          <a:bodyPr wrap="square" lIns="0" tIns="0" rIns="0" bIns="0" rtlCol="0" anchor="ctr"/>
          <a:lstStyle/>
          <a:p>
            <a:pPr algn="r" indent="0" marL="0">
              <a:buNone/>
            </a:pPr>
            <a:r>
              <a:rPr lang="en-US" sz="900" dirty="0">
                <a:solidFill>
                  <a:srgbClr val="5B6B8C"/>
                </a:solidFill>
                <a:latin typeface="Calibri" pitchFamily="34" charset="0"/>
                <a:ea typeface="Calibri" pitchFamily="34" charset="-122"/>
                <a:cs typeface="Calibri" pitchFamily="34" charset="-120"/>
              </a:rPr>
              <a:t>M6 — Final PMO Review</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57200"/>
            <a:ext cx="457200" cy="457200"/>
          </a:xfrm>
          <a:prstGeom prst="ellipse">
            <a:avLst/>
          </a:prstGeom>
          <a:solidFill>
            <a:srgbClr val="1E2761"/>
          </a:solidFill>
          <a:ln/>
        </p:spPr>
      </p:sp>
      <p:sp>
        <p:nvSpPr>
          <p:cNvPr id="3" name="Text 1"/>
          <p:cNvSpPr txBox="1"/>
          <p:nvPr/>
        </p:nvSpPr>
        <p:spPr>
          <a:xfrm>
            <a:off x="502920" y="4572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4" name="Text 2"/>
          <p:cNvSpPr txBox="1"/>
          <p:nvPr/>
        </p:nvSpPr>
        <p:spPr>
          <a:xfrm>
            <a:off x="1124712" y="384048"/>
            <a:ext cx="8229600" cy="274320"/>
          </a:xfrm>
          <a:prstGeom prst="rect">
            <a:avLst/>
          </a:prstGeom>
          <a:noFill/>
          <a:ln/>
        </p:spPr>
        <p:txBody>
          <a:bodyPr wrap="square" lIns="0" tIns="0" rIns="0" bIns="0" rtlCol="0" anchor="ctr"/>
          <a:lstStyle/>
          <a:p>
            <a:pPr indent="0" marL="0">
              <a:buNone/>
            </a:pPr>
            <a:r>
              <a:rPr lang="en-US" sz="1200" b="1" spc="150" kern="0" dirty="0">
                <a:solidFill>
                  <a:srgbClr val="5B6B8C"/>
                </a:solidFill>
                <a:latin typeface="Calibri" pitchFamily="34" charset="0"/>
                <a:ea typeface="Calibri" pitchFamily="34" charset="-122"/>
                <a:cs typeface="Calibri" pitchFamily="34" charset="-120"/>
              </a:rPr>
              <a:t>OPERATING MODEL · HOW WE OPEN &amp; SUPPLY EACH STORE</a:t>
            </a:r>
            <a:endParaRPr lang="en-US" sz="1200" dirty="0"/>
          </a:p>
        </p:txBody>
      </p:sp>
      <p:sp>
        <p:nvSpPr>
          <p:cNvPr id="5" name="Text 3"/>
          <p:cNvSpPr txBox="1"/>
          <p:nvPr/>
        </p:nvSpPr>
        <p:spPr>
          <a:xfrm>
            <a:off x="1124712" y="621792"/>
            <a:ext cx="10564063" cy="566928"/>
          </a:xfrm>
          <a:prstGeom prst="rect">
            <a:avLst/>
          </a:prstGeom>
          <a:noFill/>
          <a:ln/>
        </p:spPr>
        <p:txBody>
          <a:bodyPr wrap="square" lIns="0" tIns="0" rIns="0" bIns="0" rtlCol="0" anchor="ctr"/>
          <a:lstStyle/>
          <a:p>
            <a:pPr indent="0" marL="0">
              <a:buNone/>
            </a:pPr>
            <a:r>
              <a:rPr lang="en-US" sz="2700" b="1" dirty="0">
                <a:solidFill>
                  <a:srgbClr val="1E2761"/>
                </a:solidFill>
                <a:latin typeface="Cambria" pitchFamily="34" charset="0"/>
                <a:ea typeface="Cambria" pitchFamily="34" charset="-122"/>
                <a:cs typeface="Cambria" pitchFamily="34" charset="-120"/>
              </a:rPr>
              <a:t>Operating Model &amp; Rollout Sequence</a:t>
            </a:r>
            <a:endParaRPr lang="en-US" sz="2700" dirty="0"/>
          </a:p>
        </p:txBody>
      </p:sp>
      <p:sp>
        <p:nvSpPr>
          <p:cNvPr id="6" name="Text 4"/>
          <p:cNvSpPr txBox="1"/>
          <p:nvPr/>
        </p:nvSpPr>
        <p:spPr>
          <a:xfrm>
            <a:off x="502920" y="1417320"/>
            <a:ext cx="5486400" cy="27432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Site-Selection Workflow — not market size alone</a:t>
            </a:r>
            <a:endParaRPr lang="en-US" sz="1300" dirty="0"/>
          </a:p>
        </p:txBody>
      </p:sp>
      <p:sp>
        <p:nvSpPr>
          <p:cNvPr id="7" name="Shape 5"/>
          <p:cNvSpPr/>
          <p:nvPr/>
        </p:nvSpPr>
        <p:spPr>
          <a:xfrm>
            <a:off x="502920" y="1828800"/>
            <a:ext cx="891540" cy="914400"/>
          </a:xfrm>
          <a:prstGeom prst="roundRect">
            <a:avLst>
              <a:gd name="adj" fmla="val 8205"/>
            </a:avLst>
          </a:prstGeom>
          <a:solidFill>
            <a:srgbClr val="CADCFC"/>
          </a:solidFill>
          <a:ln/>
          <a:effectLst>
            <a:outerShdw sx="100000" sy="100000" kx="0" ky="0" algn="bl" rotWithShape="0" blurRad="76200" dist="25400" dir="5400000">
              <a:srgbClr val="222222">
                <a:alpha val="12000"/>
              </a:srgbClr>
            </a:outerShdw>
          </a:effectLst>
        </p:spPr>
      </p:sp>
      <p:sp>
        <p:nvSpPr>
          <p:cNvPr id="8" name="Text 6"/>
          <p:cNvSpPr txBox="1"/>
          <p:nvPr/>
        </p:nvSpPr>
        <p:spPr>
          <a:xfrm>
            <a:off x="548640" y="1828800"/>
            <a:ext cx="800100" cy="914400"/>
          </a:xfrm>
          <a:prstGeom prst="rect">
            <a:avLst/>
          </a:prstGeom>
          <a:noFill/>
          <a:ln/>
        </p:spPr>
        <p:txBody>
          <a:bodyPr wrap="square" lIns="0" tIns="0" rIns="0" bIns="0" rtlCol="0" anchor="ctr"/>
          <a:lstStyle/>
          <a:p>
            <a:pPr algn="ctr" indent="0" marL="0">
              <a:lnSpc>
                <a:spcPct val="105000"/>
              </a:lnSpc>
              <a:buNone/>
            </a:pPr>
            <a:r>
              <a:rPr lang="en-US" sz="950" b="1" dirty="0">
                <a:solidFill>
                  <a:srgbClr val="1E2761"/>
                </a:solidFill>
                <a:latin typeface="Calibri" pitchFamily="34" charset="0"/>
                <a:ea typeface="Calibri" pitchFamily="34" charset="-122"/>
                <a:cs typeface="Calibri" pitchFamily="34" charset="-120"/>
              </a:rPr>
              <a:t>Market</a:t>
            </a:r>
            <a:endParaRPr lang="en-US" sz="950" dirty="0"/>
          </a:p>
          <a:p>
            <a:pPr algn="ctr" indent="0" marL="0">
              <a:lnSpc>
                <a:spcPct val="105000"/>
              </a:lnSpc>
              <a:buNone/>
            </a:pPr>
            <a:r>
              <a:rPr lang="en-US" sz="950" b="1" dirty="0">
                <a:solidFill>
                  <a:srgbClr val="1E2761"/>
                </a:solidFill>
                <a:latin typeface="Calibri" pitchFamily="34" charset="0"/>
                <a:ea typeface="Calibri" pitchFamily="34" charset="-122"/>
                <a:cs typeface="Calibri" pitchFamily="34" charset="-120"/>
              </a:rPr>
              <a:t>potential</a:t>
            </a:r>
            <a:endParaRPr lang="en-US" sz="950" dirty="0"/>
          </a:p>
        </p:txBody>
      </p:sp>
      <p:sp>
        <p:nvSpPr>
          <p:cNvPr id="9" name="Shape 7"/>
          <p:cNvSpPr/>
          <p:nvPr/>
        </p:nvSpPr>
        <p:spPr>
          <a:xfrm>
            <a:off x="1522476" y="1828800"/>
            <a:ext cx="891540" cy="914400"/>
          </a:xfrm>
          <a:prstGeom prst="roundRect">
            <a:avLst>
              <a:gd name="adj" fmla="val 8205"/>
            </a:avLst>
          </a:prstGeom>
          <a:solidFill>
            <a:srgbClr val="EEF3FC"/>
          </a:solidFill>
          <a:ln/>
          <a:effectLst>
            <a:outerShdw sx="100000" sy="100000" kx="0" ky="0" algn="bl" rotWithShape="0" blurRad="76200" dist="25400" dir="5400000">
              <a:srgbClr val="222222">
                <a:alpha val="12000"/>
              </a:srgbClr>
            </a:outerShdw>
          </a:effectLst>
        </p:spPr>
      </p:sp>
      <p:sp>
        <p:nvSpPr>
          <p:cNvPr id="10" name="Text 8"/>
          <p:cNvSpPr txBox="1"/>
          <p:nvPr/>
        </p:nvSpPr>
        <p:spPr>
          <a:xfrm>
            <a:off x="1568196" y="1828800"/>
            <a:ext cx="800100" cy="914400"/>
          </a:xfrm>
          <a:prstGeom prst="rect">
            <a:avLst/>
          </a:prstGeom>
          <a:noFill/>
          <a:ln/>
        </p:spPr>
        <p:txBody>
          <a:bodyPr wrap="square" lIns="0" tIns="0" rIns="0" bIns="0" rtlCol="0" anchor="ctr"/>
          <a:lstStyle/>
          <a:p>
            <a:pPr algn="ctr" indent="0" marL="0">
              <a:lnSpc>
                <a:spcPct val="105000"/>
              </a:lnSpc>
              <a:buNone/>
            </a:pPr>
            <a:r>
              <a:rPr lang="en-US" sz="950" b="1" dirty="0">
                <a:solidFill>
                  <a:srgbClr val="1E2761"/>
                </a:solidFill>
                <a:latin typeface="Calibri" pitchFamily="34" charset="0"/>
                <a:ea typeface="Calibri" pitchFamily="34" charset="-122"/>
                <a:cs typeface="Calibri" pitchFamily="34" charset="-120"/>
              </a:rPr>
              <a:t>Customer</a:t>
            </a:r>
            <a:endParaRPr lang="en-US" sz="950" dirty="0"/>
          </a:p>
          <a:p>
            <a:pPr algn="ctr" indent="0" marL="0">
              <a:lnSpc>
                <a:spcPct val="105000"/>
              </a:lnSpc>
              <a:buNone/>
            </a:pPr>
            <a:r>
              <a:rPr lang="en-US" sz="950" b="1" dirty="0">
                <a:solidFill>
                  <a:srgbClr val="1E2761"/>
                </a:solidFill>
                <a:latin typeface="Calibri" pitchFamily="34" charset="0"/>
                <a:ea typeface="Calibri" pitchFamily="34" charset="-122"/>
                <a:cs typeface="Calibri" pitchFamily="34" charset="-120"/>
              </a:rPr>
              <a:t>catchment</a:t>
            </a:r>
            <a:endParaRPr lang="en-US" sz="950" dirty="0"/>
          </a:p>
        </p:txBody>
      </p:sp>
      <p:sp>
        <p:nvSpPr>
          <p:cNvPr id="11" name="Shape 9"/>
          <p:cNvSpPr/>
          <p:nvPr/>
        </p:nvSpPr>
        <p:spPr>
          <a:xfrm>
            <a:off x="2542032" y="1828800"/>
            <a:ext cx="891540" cy="914400"/>
          </a:xfrm>
          <a:prstGeom prst="roundRect">
            <a:avLst>
              <a:gd name="adj" fmla="val 8205"/>
            </a:avLst>
          </a:prstGeom>
          <a:solidFill>
            <a:srgbClr val="CADCFC"/>
          </a:solidFill>
          <a:ln/>
          <a:effectLst>
            <a:outerShdw sx="100000" sy="100000" kx="0" ky="0" algn="bl" rotWithShape="0" blurRad="76200" dist="25400" dir="5400000">
              <a:srgbClr val="222222">
                <a:alpha val="12000"/>
              </a:srgbClr>
            </a:outerShdw>
          </a:effectLst>
        </p:spPr>
      </p:sp>
      <p:sp>
        <p:nvSpPr>
          <p:cNvPr id="12" name="Text 10"/>
          <p:cNvSpPr txBox="1"/>
          <p:nvPr/>
        </p:nvSpPr>
        <p:spPr>
          <a:xfrm>
            <a:off x="2587752" y="1828800"/>
            <a:ext cx="800100" cy="914400"/>
          </a:xfrm>
          <a:prstGeom prst="rect">
            <a:avLst/>
          </a:prstGeom>
          <a:noFill/>
          <a:ln/>
        </p:spPr>
        <p:txBody>
          <a:bodyPr wrap="square" lIns="0" tIns="0" rIns="0" bIns="0" rtlCol="0" anchor="ctr"/>
          <a:lstStyle/>
          <a:p>
            <a:pPr algn="ctr" indent="0" marL="0">
              <a:lnSpc>
                <a:spcPct val="105000"/>
              </a:lnSpc>
              <a:buNone/>
            </a:pPr>
            <a:r>
              <a:rPr lang="en-US" sz="950" b="1" dirty="0">
                <a:solidFill>
                  <a:srgbClr val="1E2761"/>
                </a:solidFill>
                <a:latin typeface="Calibri" pitchFamily="34" charset="0"/>
                <a:ea typeface="Calibri" pitchFamily="34" charset="-122"/>
                <a:cs typeface="Calibri" pitchFamily="34" charset="-120"/>
              </a:rPr>
              <a:t>Accessibility</a:t>
            </a:r>
            <a:endParaRPr lang="en-US" sz="950" dirty="0"/>
          </a:p>
        </p:txBody>
      </p:sp>
      <p:sp>
        <p:nvSpPr>
          <p:cNvPr id="13" name="Shape 11"/>
          <p:cNvSpPr/>
          <p:nvPr/>
        </p:nvSpPr>
        <p:spPr>
          <a:xfrm>
            <a:off x="3561588" y="1828800"/>
            <a:ext cx="891540" cy="914400"/>
          </a:xfrm>
          <a:prstGeom prst="roundRect">
            <a:avLst>
              <a:gd name="adj" fmla="val 8205"/>
            </a:avLst>
          </a:prstGeom>
          <a:solidFill>
            <a:srgbClr val="EEF3FC"/>
          </a:solidFill>
          <a:ln/>
          <a:effectLst>
            <a:outerShdw sx="100000" sy="100000" kx="0" ky="0" algn="bl" rotWithShape="0" blurRad="76200" dist="25400" dir="5400000">
              <a:srgbClr val="222222">
                <a:alpha val="12000"/>
              </a:srgbClr>
            </a:outerShdw>
          </a:effectLst>
        </p:spPr>
      </p:sp>
      <p:sp>
        <p:nvSpPr>
          <p:cNvPr id="14" name="Text 12"/>
          <p:cNvSpPr txBox="1"/>
          <p:nvPr/>
        </p:nvSpPr>
        <p:spPr>
          <a:xfrm>
            <a:off x="3607308" y="1828800"/>
            <a:ext cx="800100" cy="914400"/>
          </a:xfrm>
          <a:prstGeom prst="rect">
            <a:avLst/>
          </a:prstGeom>
          <a:noFill/>
          <a:ln/>
        </p:spPr>
        <p:txBody>
          <a:bodyPr wrap="square" lIns="0" tIns="0" rIns="0" bIns="0" rtlCol="0" anchor="ctr"/>
          <a:lstStyle/>
          <a:p>
            <a:pPr algn="ctr" indent="0" marL="0">
              <a:lnSpc>
                <a:spcPct val="105000"/>
              </a:lnSpc>
              <a:buNone/>
            </a:pPr>
            <a:r>
              <a:rPr lang="en-US" sz="950" b="1" dirty="0">
                <a:solidFill>
                  <a:srgbClr val="1E2761"/>
                </a:solidFill>
                <a:latin typeface="Calibri" pitchFamily="34" charset="0"/>
                <a:ea typeface="Calibri" pitchFamily="34" charset="-122"/>
                <a:cs typeface="Calibri" pitchFamily="34" charset="-120"/>
              </a:rPr>
              <a:t>Competition</a:t>
            </a:r>
            <a:endParaRPr lang="en-US" sz="950" dirty="0"/>
          </a:p>
        </p:txBody>
      </p:sp>
      <p:sp>
        <p:nvSpPr>
          <p:cNvPr id="15" name="Shape 13"/>
          <p:cNvSpPr/>
          <p:nvPr/>
        </p:nvSpPr>
        <p:spPr>
          <a:xfrm>
            <a:off x="4581144" y="1828800"/>
            <a:ext cx="891540" cy="914400"/>
          </a:xfrm>
          <a:prstGeom prst="roundRect">
            <a:avLst>
              <a:gd name="adj" fmla="val 8205"/>
            </a:avLst>
          </a:prstGeom>
          <a:solidFill>
            <a:srgbClr val="CADCFC"/>
          </a:solidFill>
          <a:ln/>
          <a:effectLst>
            <a:outerShdw sx="100000" sy="100000" kx="0" ky="0" algn="bl" rotWithShape="0" blurRad="76200" dist="25400" dir="5400000">
              <a:srgbClr val="222222">
                <a:alpha val="12000"/>
              </a:srgbClr>
            </a:outerShdw>
          </a:effectLst>
        </p:spPr>
      </p:sp>
      <p:sp>
        <p:nvSpPr>
          <p:cNvPr id="16" name="Text 14"/>
          <p:cNvSpPr txBox="1"/>
          <p:nvPr/>
        </p:nvSpPr>
        <p:spPr>
          <a:xfrm>
            <a:off x="4626864" y="1828800"/>
            <a:ext cx="800100" cy="914400"/>
          </a:xfrm>
          <a:prstGeom prst="rect">
            <a:avLst/>
          </a:prstGeom>
          <a:noFill/>
          <a:ln/>
        </p:spPr>
        <p:txBody>
          <a:bodyPr wrap="square" lIns="0" tIns="0" rIns="0" bIns="0" rtlCol="0" anchor="ctr"/>
          <a:lstStyle/>
          <a:p>
            <a:pPr algn="ctr" indent="0" marL="0">
              <a:lnSpc>
                <a:spcPct val="105000"/>
              </a:lnSpc>
              <a:buNone/>
            </a:pPr>
            <a:r>
              <a:rPr lang="en-US" sz="950" b="1" dirty="0">
                <a:solidFill>
                  <a:srgbClr val="1E2761"/>
                </a:solidFill>
                <a:latin typeface="Calibri" pitchFamily="34" charset="0"/>
                <a:ea typeface="Calibri" pitchFamily="34" charset="-122"/>
                <a:cs typeface="Calibri" pitchFamily="34" charset="-120"/>
              </a:rPr>
              <a:t>Logistics</a:t>
            </a:r>
            <a:endParaRPr lang="en-US" sz="950" dirty="0"/>
          </a:p>
          <a:p>
            <a:pPr algn="ctr" indent="0" marL="0">
              <a:lnSpc>
                <a:spcPct val="105000"/>
              </a:lnSpc>
              <a:buNone/>
            </a:pPr>
            <a:r>
              <a:rPr lang="en-US" sz="950" b="1" dirty="0">
                <a:solidFill>
                  <a:srgbClr val="1E2761"/>
                </a:solidFill>
                <a:latin typeface="Calibri" pitchFamily="34" charset="0"/>
                <a:ea typeface="Calibri" pitchFamily="34" charset="-122"/>
                <a:cs typeface="Calibri" pitchFamily="34" charset="-120"/>
              </a:rPr>
              <a:t>feasibility</a:t>
            </a:r>
            <a:endParaRPr lang="en-US" sz="950" dirty="0"/>
          </a:p>
        </p:txBody>
      </p:sp>
      <p:sp>
        <p:nvSpPr>
          <p:cNvPr id="17" name="Shape 15"/>
          <p:cNvSpPr/>
          <p:nvPr/>
        </p:nvSpPr>
        <p:spPr>
          <a:xfrm>
            <a:off x="5600700" y="1828800"/>
            <a:ext cx="891540" cy="914400"/>
          </a:xfrm>
          <a:prstGeom prst="roundRect">
            <a:avLst>
              <a:gd name="adj" fmla="val 8205"/>
            </a:avLst>
          </a:prstGeom>
          <a:solidFill>
            <a:srgbClr val="EEF3FC"/>
          </a:solidFill>
          <a:ln/>
          <a:effectLst>
            <a:outerShdw sx="100000" sy="100000" kx="0" ky="0" algn="bl" rotWithShape="0" blurRad="76200" dist="25400" dir="5400000">
              <a:srgbClr val="222222">
                <a:alpha val="12000"/>
              </a:srgbClr>
            </a:outerShdw>
          </a:effectLst>
        </p:spPr>
      </p:sp>
      <p:sp>
        <p:nvSpPr>
          <p:cNvPr id="18" name="Text 16"/>
          <p:cNvSpPr txBox="1"/>
          <p:nvPr/>
        </p:nvSpPr>
        <p:spPr>
          <a:xfrm>
            <a:off x="5646420" y="1828800"/>
            <a:ext cx="800100" cy="914400"/>
          </a:xfrm>
          <a:prstGeom prst="rect">
            <a:avLst/>
          </a:prstGeom>
          <a:noFill/>
          <a:ln/>
        </p:spPr>
        <p:txBody>
          <a:bodyPr wrap="square" lIns="0" tIns="0" rIns="0" bIns="0" rtlCol="0" anchor="ctr"/>
          <a:lstStyle/>
          <a:p>
            <a:pPr algn="ctr" indent="0" marL="0">
              <a:lnSpc>
                <a:spcPct val="105000"/>
              </a:lnSpc>
              <a:buNone/>
            </a:pPr>
            <a:r>
              <a:rPr lang="en-US" sz="950" b="1" dirty="0">
                <a:solidFill>
                  <a:srgbClr val="1E2761"/>
                </a:solidFill>
                <a:latin typeface="Calibri" pitchFamily="34" charset="0"/>
                <a:ea typeface="Calibri" pitchFamily="34" charset="-122"/>
                <a:cs typeface="Calibri" pitchFamily="34" charset="-120"/>
              </a:rPr>
              <a:t>Cost</a:t>
            </a:r>
            <a:endParaRPr lang="en-US" sz="950" dirty="0"/>
          </a:p>
        </p:txBody>
      </p:sp>
      <p:sp>
        <p:nvSpPr>
          <p:cNvPr id="19" name="Text 17"/>
          <p:cNvSpPr txBox="1"/>
          <p:nvPr/>
        </p:nvSpPr>
        <p:spPr>
          <a:xfrm>
            <a:off x="502920" y="2971800"/>
            <a:ext cx="5989320" cy="27432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POD / INHP Logistics Concept</a:t>
            </a:r>
            <a:endParaRPr lang="en-US" sz="1300" dirty="0"/>
          </a:p>
        </p:txBody>
      </p:sp>
      <p:sp>
        <p:nvSpPr>
          <p:cNvPr id="20" name="Shape 18"/>
          <p:cNvSpPr/>
          <p:nvPr/>
        </p:nvSpPr>
        <p:spPr>
          <a:xfrm>
            <a:off x="502920" y="3291840"/>
            <a:ext cx="5989320" cy="914400"/>
          </a:xfrm>
          <a:prstGeom prst="roundRect">
            <a:avLst>
              <a:gd name="adj" fmla="val 8000"/>
            </a:avLst>
          </a:prstGeom>
          <a:solidFill>
            <a:srgbClr val="EEF3FC"/>
          </a:solidFill>
          <a:ln/>
          <a:effectLst>
            <a:outerShdw sx="100000" sy="100000" kx="0" ky="0" algn="bl" rotWithShape="0" blurRad="76200" dist="25400" dir="5400000">
              <a:srgbClr val="222222">
                <a:alpha val="12000"/>
              </a:srgbClr>
            </a:outerShdw>
          </a:effectLst>
        </p:spPr>
      </p:sp>
      <p:sp>
        <p:nvSpPr>
          <p:cNvPr id="21" name="Text 19"/>
          <p:cNvSpPr txBox="1"/>
          <p:nvPr/>
        </p:nvSpPr>
        <p:spPr>
          <a:xfrm>
            <a:off x="731520" y="3429000"/>
            <a:ext cx="5532120" cy="640080"/>
          </a:xfrm>
          <a:prstGeom prst="rect">
            <a:avLst/>
          </a:prstGeom>
          <a:noFill/>
          <a:ln/>
        </p:spPr>
        <p:txBody>
          <a:bodyPr wrap="square" lIns="0" tIns="0" rIns="0" bIns="0" rtlCol="0" anchor="ctr"/>
          <a:lstStyle/>
          <a:p>
            <a:pPr indent="0" marL="0">
              <a:lnSpc>
                <a:spcPct val="120000"/>
              </a:lnSpc>
              <a:buNone/>
            </a:pPr>
            <a:r>
              <a:rPr lang="en-US" sz="1050" dirty="0">
                <a:solidFill>
                  <a:srgbClr val="5B6B8C"/>
                </a:solidFill>
                <a:latin typeface="Calibri" pitchFamily="34" charset="0"/>
                <a:ea typeface="Calibri" pitchFamily="34" charset="-122"/>
                <a:cs typeface="Calibri" pitchFamily="34" charset="-120"/>
              </a:rPr>
              <a:t>Sonipat is confirmed as the hub node (Wakefit's only North India factory). What still needs validation are its operating parameters as a distribution hub — warehouse capacity, transport cost, inventory policy and service levels.</a:t>
            </a:r>
            <a:endParaRPr lang="en-US" sz="1050" dirty="0"/>
          </a:p>
        </p:txBody>
      </p:sp>
      <p:sp>
        <p:nvSpPr>
          <p:cNvPr id="22" name="Text 20"/>
          <p:cNvSpPr txBox="1"/>
          <p:nvPr/>
        </p:nvSpPr>
        <p:spPr>
          <a:xfrm>
            <a:off x="502920" y="4434840"/>
            <a:ext cx="5989320" cy="27432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20–25 Store Phased Roadmap</a:t>
            </a:r>
            <a:endParaRPr lang="en-US" sz="1300" dirty="0"/>
          </a:p>
        </p:txBody>
      </p:sp>
      <p:sp>
        <p:nvSpPr>
          <p:cNvPr id="23" name="Shape 21"/>
          <p:cNvSpPr/>
          <p:nvPr/>
        </p:nvSpPr>
        <p:spPr>
          <a:xfrm>
            <a:off x="502920" y="4754880"/>
            <a:ext cx="5989320" cy="868680"/>
          </a:xfrm>
          <a:prstGeom prst="roundRect">
            <a:avLst>
              <a:gd name="adj" fmla="val 8421"/>
            </a:avLst>
          </a:prstGeom>
          <a:solidFill>
            <a:srgbClr val="1E2761"/>
          </a:solidFill>
          <a:ln/>
          <a:effectLst>
            <a:outerShdw sx="100000" sy="100000" kx="0" ky="0" algn="bl" rotWithShape="0" blurRad="76200" dist="25400" dir="5400000">
              <a:srgbClr val="222222">
                <a:alpha val="12000"/>
              </a:srgbClr>
            </a:outerShdw>
          </a:effectLst>
        </p:spPr>
      </p:sp>
      <p:sp>
        <p:nvSpPr>
          <p:cNvPr id="24" name="Text 22"/>
          <p:cNvSpPr txBox="1"/>
          <p:nvPr/>
        </p:nvSpPr>
        <p:spPr>
          <a:xfrm>
            <a:off x="731520" y="4864608"/>
            <a:ext cx="2011680" cy="36576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Finalised for M6</a:t>
            </a:r>
            <a:endParaRPr lang="en-US" sz="1800" dirty="0"/>
          </a:p>
        </p:txBody>
      </p:sp>
      <p:sp>
        <p:nvSpPr>
          <p:cNvPr id="25" name="Text 23"/>
          <p:cNvSpPr txBox="1"/>
          <p:nvPr/>
        </p:nvSpPr>
        <p:spPr>
          <a:xfrm>
            <a:off x="731520" y="5230368"/>
            <a:ext cx="5532120" cy="365760"/>
          </a:xfrm>
          <a:prstGeom prst="rect">
            <a:avLst/>
          </a:prstGeom>
          <a:noFill/>
          <a:ln/>
        </p:spPr>
        <p:txBody>
          <a:bodyPr wrap="square" lIns="0" tIns="0" rIns="0" bIns="0" rtlCol="0" anchor="ctr"/>
          <a:lstStyle/>
          <a:p>
            <a:pPr indent="0" marL="0">
              <a:lnSpc>
                <a:spcPct val="115000"/>
              </a:lnSpc>
              <a:buNone/>
            </a:pPr>
            <a:r>
              <a:rPr lang="en-US" sz="950" dirty="0">
                <a:solidFill>
                  <a:srgbClr val="CADCFC"/>
                </a:solidFill>
                <a:latin typeface="Calibri" pitchFamily="34" charset="0"/>
                <a:ea typeface="Calibri" pitchFamily="34" charset="-122"/>
                <a:cs typeface="Calibri" pitchFamily="34" charset="-120"/>
              </a:rPr>
              <a:t>Working planning estimate, not a confirmed Wakefit regional commitment — presented as a plan still needing validation.</a:t>
            </a:r>
            <a:endParaRPr lang="en-US" sz="950" dirty="0"/>
          </a:p>
        </p:txBody>
      </p:sp>
      <p:sp>
        <p:nvSpPr>
          <p:cNvPr id="26" name="Text 24"/>
          <p:cNvSpPr txBox="1"/>
          <p:nvPr/>
        </p:nvSpPr>
        <p:spPr>
          <a:xfrm>
            <a:off x="6858000" y="1417320"/>
            <a:ext cx="4830775" cy="27432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Hub-First Spoke Sequence</a:t>
            </a:r>
            <a:endParaRPr lang="en-US" sz="1300" dirty="0"/>
          </a:p>
        </p:txBody>
      </p:sp>
      <p:sp>
        <p:nvSpPr>
          <p:cNvPr id="27" name="Shape 25"/>
          <p:cNvSpPr/>
          <p:nvPr/>
        </p:nvSpPr>
        <p:spPr>
          <a:xfrm>
            <a:off x="6858000" y="1737360"/>
            <a:ext cx="4830775" cy="685800"/>
          </a:xfrm>
          <a:prstGeom prst="roundRect">
            <a:avLst>
              <a:gd name="adj" fmla="val 10667"/>
            </a:avLst>
          </a:prstGeom>
          <a:solidFill>
            <a:srgbClr val="1E2761"/>
          </a:solidFill>
          <a:ln/>
          <a:effectLst>
            <a:outerShdw sx="100000" sy="100000" kx="0" ky="0" algn="bl" rotWithShape="0" blurRad="76200" dist="25400" dir="5400000">
              <a:srgbClr val="222222">
                <a:alpha val="12000"/>
              </a:srgbClr>
            </a:outerShdw>
          </a:effectLst>
        </p:spPr>
      </p:sp>
      <p:sp>
        <p:nvSpPr>
          <p:cNvPr id="28" name="Text 26"/>
          <p:cNvSpPr txBox="1"/>
          <p:nvPr/>
        </p:nvSpPr>
        <p:spPr>
          <a:xfrm>
            <a:off x="6858000" y="1737360"/>
            <a:ext cx="4830775" cy="6858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NCR / SONIPAT HUB</a:t>
            </a:r>
            <a:endParaRPr lang="en-US" sz="1500" dirty="0"/>
          </a:p>
        </p:txBody>
      </p:sp>
      <p:sp>
        <p:nvSpPr>
          <p:cNvPr id="29" name="Text 27"/>
          <p:cNvSpPr txBox="1"/>
          <p:nvPr/>
        </p:nvSpPr>
        <p:spPr>
          <a:xfrm>
            <a:off x="9136228" y="2606040"/>
            <a:ext cx="274320" cy="219456"/>
          </a:xfrm>
          <a:prstGeom prst="rect">
            <a:avLst/>
          </a:prstGeom>
          <a:noFill/>
          <a:ln/>
        </p:spPr>
        <p:txBody>
          <a:bodyPr wrap="square" lIns="0" tIns="0" rIns="0" bIns="0" rtlCol="0" anchor="ctr"/>
          <a:lstStyle/>
          <a:p>
            <a:pPr algn="ctr" indent="0" marL="0">
              <a:buNone/>
            </a:pPr>
            <a:r>
              <a:rPr lang="en-US" sz="1400" b="1" dirty="0">
                <a:solidFill>
                  <a:srgbClr val="5B6B8C"/>
                </a:solidFill>
                <a:latin typeface="Calibri" pitchFamily="34" charset="0"/>
                <a:ea typeface="Calibri" pitchFamily="34" charset="-122"/>
                <a:cs typeface="Calibri" pitchFamily="34" charset="-120"/>
              </a:rPr>
              <a:t>↓</a:t>
            </a:r>
            <a:endParaRPr lang="en-US" sz="1400" dirty="0"/>
          </a:p>
        </p:txBody>
      </p:sp>
      <p:sp>
        <p:nvSpPr>
          <p:cNvPr id="30" name="Shape 28"/>
          <p:cNvSpPr/>
          <p:nvPr/>
        </p:nvSpPr>
        <p:spPr>
          <a:xfrm>
            <a:off x="6858000" y="2843784"/>
            <a:ext cx="4830775" cy="530352"/>
          </a:xfrm>
          <a:prstGeom prst="roundRect">
            <a:avLst>
              <a:gd name="adj" fmla="val 13793"/>
            </a:avLst>
          </a:prstGeom>
          <a:solidFill>
            <a:srgbClr val="CADCFC"/>
          </a:solidFill>
          <a:ln/>
          <a:effectLst>
            <a:outerShdw sx="100000" sy="100000" kx="0" ky="0" algn="bl" rotWithShape="0" blurRad="76200" dist="25400" dir="5400000">
              <a:srgbClr val="222222">
                <a:alpha val="12000"/>
              </a:srgbClr>
            </a:outerShdw>
          </a:effectLst>
        </p:spPr>
      </p:sp>
      <p:sp>
        <p:nvSpPr>
          <p:cNvPr id="31" name="Text 29"/>
          <p:cNvSpPr txBox="1"/>
          <p:nvPr/>
        </p:nvSpPr>
        <p:spPr>
          <a:xfrm>
            <a:off x="7040880" y="2843784"/>
            <a:ext cx="4465015" cy="530352"/>
          </a:xfrm>
          <a:prstGeom prst="rect">
            <a:avLst/>
          </a:prstGeom>
          <a:noFill/>
          <a:ln/>
        </p:spPr>
        <p:txBody>
          <a:bodyPr wrap="square" lIns="0" tIns="0" rIns="0" bIns="0" rtlCol="0" anchor="ctr"/>
          <a:lstStyle/>
          <a:p>
            <a:pPr indent="0" marL="0">
              <a:buNone/>
            </a:pPr>
            <a:r>
              <a:rPr lang="en-US" sz="1250" b="1" dirty="0">
                <a:solidFill>
                  <a:srgbClr val="1B1F33"/>
                </a:solidFill>
                <a:latin typeface="Calibri" pitchFamily="34" charset="0"/>
                <a:ea typeface="Calibri" pitchFamily="34" charset="-122"/>
                <a:cs typeface="Calibri" pitchFamily="34" charset="-120"/>
              </a:rPr>
              <a:t>1  Jaipur</a:t>
            </a:r>
            <a:endParaRPr lang="en-US" sz="1250" dirty="0"/>
          </a:p>
        </p:txBody>
      </p:sp>
      <p:sp>
        <p:nvSpPr>
          <p:cNvPr id="32" name="Text 30"/>
          <p:cNvSpPr txBox="1"/>
          <p:nvPr/>
        </p:nvSpPr>
        <p:spPr>
          <a:xfrm>
            <a:off x="9136228" y="3502152"/>
            <a:ext cx="274320" cy="219456"/>
          </a:xfrm>
          <a:prstGeom prst="rect">
            <a:avLst/>
          </a:prstGeom>
          <a:noFill/>
          <a:ln/>
        </p:spPr>
        <p:txBody>
          <a:bodyPr wrap="square" lIns="0" tIns="0" rIns="0" bIns="0" rtlCol="0" anchor="ctr"/>
          <a:lstStyle/>
          <a:p>
            <a:pPr algn="ctr" indent="0" marL="0">
              <a:buNone/>
            </a:pPr>
            <a:r>
              <a:rPr lang="en-US" sz="1400" b="1" dirty="0">
                <a:solidFill>
                  <a:srgbClr val="5B6B8C"/>
                </a:solidFill>
                <a:latin typeface="Calibri" pitchFamily="34" charset="0"/>
                <a:ea typeface="Calibri" pitchFamily="34" charset="-122"/>
                <a:cs typeface="Calibri" pitchFamily="34" charset="-120"/>
              </a:rPr>
              <a:t>↓</a:t>
            </a:r>
            <a:endParaRPr lang="en-US" sz="1400" dirty="0"/>
          </a:p>
        </p:txBody>
      </p:sp>
      <p:sp>
        <p:nvSpPr>
          <p:cNvPr id="33" name="Shape 31"/>
          <p:cNvSpPr/>
          <p:nvPr/>
        </p:nvSpPr>
        <p:spPr>
          <a:xfrm>
            <a:off x="6858000" y="3739896"/>
            <a:ext cx="4830775" cy="530352"/>
          </a:xfrm>
          <a:prstGeom prst="roundRect">
            <a:avLst>
              <a:gd name="adj" fmla="val 13793"/>
            </a:avLst>
          </a:prstGeom>
          <a:solidFill>
            <a:srgbClr val="CADCFC"/>
          </a:solidFill>
          <a:ln/>
          <a:effectLst>
            <a:outerShdw sx="100000" sy="100000" kx="0" ky="0" algn="bl" rotWithShape="0" blurRad="76200" dist="25400" dir="5400000">
              <a:srgbClr val="222222">
                <a:alpha val="12000"/>
              </a:srgbClr>
            </a:outerShdw>
          </a:effectLst>
        </p:spPr>
      </p:sp>
      <p:sp>
        <p:nvSpPr>
          <p:cNvPr id="34" name="Text 32"/>
          <p:cNvSpPr txBox="1"/>
          <p:nvPr/>
        </p:nvSpPr>
        <p:spPr>
          <a:xfrm>
            <a:off x="7040880" y="3739896"/>
            <a:ext cx="4465015" cy="530352"/>
          </a:xfrm>
          <a:prstGeom prst="rect">
            <a:avLst/>
          </a:prstGeom>
          <a:noFill/>
          <a:ln/>
        </p:spPr>
        <p:txBody>
          <a:bodyPr wrap="square" lIns="0" tIns="0" rIns="0" bIns="0" rtlCol="0" anchor="ctr"/>
          <a:lstStyle/>
          <a:p>
            <a:pPr indent="0" marL="0">
              <a:buNone/>
            </a:pPr>
            <a:r>
              <a:rPr lang="en-US" sz="1250" b="1" dirty="0">
                <a:solidFill>
                  <a:srgbClr val="1B1F33"/>
                </a:solidFill>
                <a:latin typeface="Calibri" pitchFamily="34" charset="0"/>
                <a:ea typeface="Calibri" pitchFamily="34" charset="-122"/>
                <a:cs typeface="Calibri" pitchFamily="34" charset="-120"/>
              </a:rPr>
              <a:t>2  Lucknow</a:t>
            </a:r>
            <a:endParaRPr lang="en-US" sz="1250" dirty="0"/>
          </a:p>
        </p:txBody>
      </p:sp>
      <p:sp>
        <p:nvSpPr>
          <p:cNvPr id="35" name="Text 33"/>
          <p:cNvSpPr txBox="1"/>
          <p:nvPr/>
        </p:nvSpPr>
        <p:spPr>
          <a:xfrm>
            <a:off x="9136228" y="4398264"/>
            <a:ext cx="274320" cy="219456"/>
          </a:xfrm>
          <a:prstGeom prst="rect">
            <a:avLst/>
          </a:prstGeom>
          <a:noFill/>
          <a:ln/>
        </p:spPr>
        <p:txBody>
          <a:bodyPr wrap="square" lIns="0" tIns="0" rIns="0" bIns="0" rtlCol="0" anchor="ctr"/>
          <a:lstStyle/>
          <a:p>
            <a:pPr algn="ctr" indent="0" marL="0">
              <a:buNone/>
            </a:pPr>
            <a:r>
              <a:rPr lang="en-US" sz="1400" b="1" dirty="0">
                <a:solidFill>
                  <a:srgbClr val="5B6B8C"/>
                </a:solidFill>
                <a:latin typeface="Calibri" pitchFamily="34" charset="0"/>
                <a:ea typeface="Calibri" pitchFamily="34" charset="-122"/>
                <a:cs typeface="Calibri" pitchFamily="34" charset="-120"/>
              </a:rPr>
              <a:t>↓</a:t>
            </a:r>
            <a:endParaRPr lang="en-US" sz="1400" dirty="0"/>
          </a:p>
        </p:txBody>
      </p:sp>
      <p:sp>
        <p:nvSpPr>
          <p:cNvPr id="36" name="Shape 34"/>
          <p:cNvSpPr/>
          <p:nvPr/>
        </p:nvSpPr>
        <p:spPr>
          <a:xfrm>
            <a:off x="6858000" y="4636008"/>
            <a:ext cx="4830775" cy="530352"/>
          </a:xfrm>
          <a:prstGeom prst="roundRect">
            <a:avLst>
              <a:gd name="adj" fmla="val 13793"/>
            </a:avLst>
          </a:prstGeom>
          <a:solidFill>
            <a:srgbClr val="CADCFC"/>
          </a:solidFill>
          <a:ln/>
          <a:effectLst>
            <a:outerShdw sx="100000" sy="100000" kx="0" ky="0" algn="bl" rotWithShape="0" blurRad="76200" dist="25400" dir="5400000">
              <a:srgbClr val="222222">
                <a:alpha val="12000"/>
              </a:srgbClr>
            </a:outerShdw>
          </a:effectLst>
        </p:spPr>
      </p:sp>
      <p:sp>
        <p:nvSpPr>
          <p:cNvPr id="37" name="Text 35"/>
          <p:cNvSpPr txBox="1"/>
          <p:nvPr/>
        </p:nvSpPr>
        <p:spPr>
          <a:xfrm>
            <a:off x="7040880" y="4636008"/>
            <a:ext cx="4465015" cy="530352"/>
          </a:xfrm>
          <a:prstGeom prst="rect">
            <a:avLst/>
          </a:prstGeom>
          <a:noFill/>
          <a:ln/>
        </p:spPr>
        <p:txBody>
          <a:bodyPr wrap="square" lIns="0" tIns="0" rIns="0" bIns="0" rtlCol="0" anchor="ctr"/>
          <a:lstStyle/>
          <a:p>
            <a:pPr indent="0" marL="0">
              <a:buNone/>
            </a:pPr>
            <a:r>
              <a:rPr lang="en-US" sz="1250" b="1" dirty="0">
                <a:solidFill>
                  <a:srgbClr val="1B1F33"/>
                </a:solidFill>
                <a:latin typeface="Calibri" pitchFamily="34" charset="0"/>
                <a:ea typeface="Calibri" pitchFamily="34" charset="-122"/>
                <a:cs typeface="Calibri" pitchFamily="34" charset="-120"/>
              </a:rPr>
              <a:t>3  Punjab / Mohali</a:t>
            </a:r>
            <a:endParaRPr lang="en-US" sz="1250" dirty="0"/>
          </a:p>
        </p:txBody>
      </p:sp>
      <p:sp>
        <p:nvSpPr>
          <p:cNvPr id="38" name="Text 36"/>
          <p:cNvSpPr txBox="1"/>
          <p:nvPr/>
        </p:nvSpPr>
        <p:spPr>
          <a:xfrm>
            <a:off x="9136228" y="5294376"/>
            <a:ext cx="274320" cy="219456"/>
          </a:xfrm>
          <a:prstGeom prst="rect">
            <a:avLst/>
          </a:prstGeom>
          <a:noFill/>
          <a:ln/>
        </p:spPr>
        <p:txBody>
          <a:bodyPr wrap="square" lIns="0" tIns="0" rIns="0" bIns="0" rtlCol="0" anchor="ctr"/>
          <a:lstStyle/>
          <a:p>
            <a:pPr algn="ctr" indent="0" marL="0">
              <a:buNone/>
            </a:pPr>
            <a:r>
              <a:rPr lang="en-US" sz="1400" b="1" dirty="0">
                <a:solidFill>
                  <a:srgbClr val="5B6B8C"/>
                </a:solidFill>
                <a:latin typeface="Calibri" pitchFamily="34" charset="0"/>
                <a:ea typeface="Calibri" pitchFamily="34" charset="-122"/>
                <a:cs typeface="Calibri" pitchFamily="34" charset="-120"/>
              </a:rPr>
              <a:t>↓</a:t>
            </a:r>
            <a:endParaRPr lang="en-US" sz="1400" dirty="0"/>
          </a:p>
        </p:txBody>
      </p:sp>
      <p:sp>
        <p:nvSpPr>
          <p:cNvPr id="39" name="Shape 37"/>
          <p:cNvSpPr/>
          <p:nvPr/>
        </p:nvSpPr>
        <p:spPr>
          <a:xfrm>
            <a:off x="6858000" y="5532120"/>
            <a:ext cx="4830775" cy="530352"/>
          </a:xfrm>
          <a:prstGeom prst="roundRect">
            <a:avLst>
              <a:gd name="adj" fmla="val 13793"/>
            </a:avLst>
          </a:prstGeom>
          <a:solidFill>
            <a:srgbClr val="EEF3FC"/>
          </a:solidFill>
          <a:ln/>
          <a:effectLst>
            <a:outerShdw sx="100000" sy="100000" kx="0" ky="0" algn="bl" rotWithShape="0" blurRad="76200" dist="25400" dir="5400000">
              <a:srgbClr val="222222">
                <a:alpha val="12000"/>
              </a:srgbClr>
            </a:outerShdw>
          </a:effectLst>
        </p:spPr>
      </p:sp>
      <p:sp>
        <p:nvSpPr>
          <p:cNvPr id="40" name="Text 38"/>
          <p:cNvSpPr txBox="1"/>
          <p:nvPr/>
        </p:nvSpPr>
        <p:spPr>
          <a:xfrm>
            <a:off x="7040880" y="5532120"/>
            <a:ext cx="4465015" cy="530352"/>
          </a:xfrm>
          <a:prstGeom prst="rect">
            <a:avLst/>
          </a:prstGeom>
          <a:noFill/>
          <a:ln/>
        </p:spPr>
        <p:txBody>
          <a:bodyPr wrap="square" lIns="0" tIns="0" rIns="0" bIns="0" rtlCol="0" anchor="ctr"/>
          <a:lstStyle/>
          <a:p>
            <a:pPr indent="0" marL="0">
              <a:buNone/>
            </a:pPr>
            <a:r>
              <a:rPr lang="en-US" sz="1250" b="1" dirty="0">
                <a:solidFill>
                  <a:srgbClr val="1B1F33"/>
                </a:solidFill>
                <a:latin typeface="Calibri" pitchFamily="34" charset="0"/>
                <a:ea typeface="Calibri" pitchFamily="34" charset="-122"/>
                <a:cs typeface="Calibri" pitchFamily="34" charset="-120"/>
              </a:rPr>
              <a:t>4  Himachal Pradesh</a:t>
            </a:r>
            <a:endParaRPr lang="en-US" sz="1250" dirty="0"/>
          </a:p>
        </p:txBody>
      </p:sp>
      <p:sp>
        <p:nvSpPr>
          <p:cNvPr id="41" name="Text 39"/>
          <p:cNvSpPr txBox="1"/>
          <p:nvPr/>
        </p:nvSpPr>
        <p:spPr>
          <a:xfrm>
            <a:off x="502920" y="6492240"/>
            <a:ext cx="11185855" cy="274320"/>
          </a:xfrm>
          <a:prstGeom prst="rect">
            <a:avLst/>
          </a:prstGeom>
          <a:noFill/>
          <a:ln/>
        </p:spPr>
        <p:txBody>
          <a:bodyPr wrap="square" lIns="0" tIns="0" rIns="0" bIns="0" rtlCol="0" anchor="ctr"/>
          <a:lstStyle/>
          <a:p>
            <a:pPr indent="0" marL="0">
              <a:buNone/>
            </a:pPr>
            <a:r>
              <a:rPr lang="en-US" sz="900" dirty="0">
                <a:solidFill>
                  <a:srgbClr val="5B6B8C"/>
                </a:solidFill>
                <a:latin typeface="Calibri" pitchFamily="34" charset="0"/>
                <a:ea typeface="Calibri" pitchFamily="34" charset="-122"/>
                <a:cs typeface="Calibri" pitchFamily="34" charset="-120"/>
              </a:rPr>
              <a:t>Owner: Ankesh Kumar (Operations Head) — rollout framework, POD/INHP logistics, spoke sequencing, PERT/CPM network.</a:t>
            </a:r>
            <a:endParaRPr lang="en-US" sz="900" dirty="0"/>
          </a:p>
        </p:txBody>
      </p:sp>
      <p:sp>
        <p:nvSpPr>
          <p:cNvPr id="42" name="Text 40"/>
          <p:cNvSpPr txBox="1"/>
          <p:nvPr/>
        </p:nvSpPr>
        <p:spPr>
          <a:xfrm>
            <a:off x="8945575" y="6492240"/>
            <a:ext cx="2743200" cy="274320"/>
          </a:xfrm>
          <a:prstGeom prst="rect">
            <a:avLst/>
          </a:prstGeom>
          <a:noFill/>
          <a:ln/>
        </p:spPr>
        <p:txBody>
          <a:bodyPr wrap="square" lIns="0" tIns="0" rIns="0" bIns="0" rtlCol="0" anchor="ctr"/>
          <a:lstStyle/>
          <a:p>
            <a:pPr algn="r" indent="0" marL="0">
              <a:buNone/>
            </a:pPr>
            <a:r>
              <a:rPr lang="en-US" sz="900" dirty="0">
                <a:solidFill>
                  <a:srgbClr val="5B6B8C"/>
                </a:solidFill>
                <a:latin typeface="Calibri" pitchFamily="34" charset="0"/>
                <a:ea typeface="Calibri" pitchFamily="34" charset="-122"/>
                <a:cs typeface="Calibri" pitchFamily="34" charset="-120"/>
              </a:rPr>
              <a:t>M6 — Final PMO Review</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57200"/>
            <a:ext cx="457200" cy="457200"/>
          </a:xfrm>
          <a:prstGeom prst="ellipse">
            <a:avLst/>
          </a:prstGeom>
          <a:solidFill>
            <a:srgbClr val="1E2761"/>
          </a:solidFill>
          <a:ln/>
        </p:spPr>
      </p:sp>
      <p:sp>
        <p:nvSpPr>
          <p:cNvPr id="3" name="Text 1"/>
          <p:cNvSpPr txBox="1"/>
          <p:nvPr/>
        </p:nvSpPr>
        <p:spPr>
          <a:xfrm>
            <a:off x="502920" y="4572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4" name="Text 2"/>
          <p:cNvSpPr txBox="1"/>
          <p:nvPr/>
        </p:nvSpPr>
        <p:spPr>
          <a:xfrm>
            <a:off x="1124712" y="384048"/>
            <a:ext cx="8229600" cy="274320"/>
          </a:xfrm>
          <a:prstGeom prst="rect">
            <a:avLst/>
          </a:prstGeom>
          <a:noFill/>
          <a:ln/>
        </p:spPr>
        <p:txBody>
          <a:bodyPr wrap="square" lIns="0" tIns="0" rIns="0" bIns="0" rtlCol="0" anchor="ctr"/>
          <a:lstStyle/>
          <a:p>
            <a:pPr indent="0" marL="0">
              <a:buNone/>
            </a:pPr>
            <a:r>
              <a:rPr lang="en-US" sz="1200" b="1" spc="150" kern="0" dirty="0">
                <a:solidFill>
                  <a:srgbClr val="5B6B8C"/>
                </a:solidFill>
                <a:latin typeface="Calibri" pitchFamily="34" charset="0"/>
                <a:ea typeface="Calibri" pitchFamily="34" charset="-122"/>
                <a:cs typeface="Calibri" pitchFamily="34" charset="-120"/>
              </a:rPr>
              <a:t>FINANCIAL FEASIBILITY · CAN WE TRUST THE NUMBERS BEHIND THIS</a:t>
            </a:r>
            <a:endParaRPr lang="en-US" sz="1200" dirty="0"/>
          </a:p>
        </p:txBody>
      </p:sp>
      <p:sp>
        <p:nvSpPr>
          <p:cNvPr id="5" name="Text 3"/>
          <p:cNvSpPr txBox="1"/>
          <p:nvPr/>
        </p:nvSpPr>
        <p:spPr>
          <a:xfrm>
            <a:off x="1124712" y="621792"/>
            <a:ext cx="10564063" cy="566928"/>
          </a:xfrm>
          <a:prstGeom prst="rect">
            <a:avLst/>
          </a:prstGeom>
          <a:noFill/>
          <a:ln/>
        </p:spPr>
        <p:txBody>
          <a:bodyPr wrap="square" lIns="0" tIns="0" rIns="0" bIns="0" rtlCol="0" anchor="ctr"/>
          <a:lstStyle/>
          <a:p>
            <a:pPr indent="0" marL="0">
              <a:buNone/>
            </a:pPr>
            <a:r>
              <a:rPr lang="en-US" sz="2700" b="1" dirty="0">
                <a:solidFill>
                  <a:srgbClr val="1E2761"/>
                </a:solidFill>
                <a:latin typeface="Cambria" pitchFamily="34" charset="0"/>
                <a:ea typeface="Cambria" pitchFamily="34" charset="-122"/>
                <a:cs typeface="Cambria" pitchFamily="34" charset="-120"/>
              </a:rPr>
              <a:t>Cost, Risk &amp; Feasibility</a:t>
            </a:r>
            <a:endParaRPr lang="en-US" sz="2700" dirty="0"/>
          </a:p>
        </p:txBody>
      </p:sp>
      <p:sp>
        <p:nvSpPr>
          <p:cNvPr id="6" name="Text 4"/>
          <p:cNvSpPr txBox="1"/>
          <p:nvPr/>
        </p:nvSpPr>
        <p:spPr>
          <a:xfrm>
            <a:off x="502920" y="1417320"/>
            <a:ext cx="5120640" cy="292608"/>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Project Engagement Budget — ₹1,32,000</a:t>
            </a:r>
            <a:endParaRPr lang="en-US" sz="1300" dirty="0"/>
          </a:p>
        </p:txBody>
      </p:sp>
      <p:graphicFrame>
        <p:nvGraphicFramePr>
          <p:cNvPr id="7" name="Chart 0" descr=""/>
          <p:cNvGraphicFramePr/>
          <p:nvPr/>
        </p:nvGraphicFramePr>
        <p:xfrm>
          <a:off x="502920" y="1783080"/>
          <a:ext cx="2880360" cy="2880360"/>
        </p:xfrm>
        <a:graphic xmlns:a="http://schemas.openxmlformats.org/drawingml/2006/main">
          <a:graphicData uri="http://schemas.openxmlformats.org/drawingml/2006/chart">
            <c:chart xmlns:c="http://schemas.openxmlformats.org/drawingml/2006/chart" r:id="rId1"/>
          </a:graphicData>
        </a:graphic>
      </p:graphicFrame>
      <p:sp>
        <p:nvSpPr>
          <p:cNvPr id="8" name="Text 5"/>
          <p:cNvSpPr txBox="1"/>
          <p:nvPr/>
        </p:nvSpPr>
        <p:spPr>
          <a:xfrm>
            <a:off x="502920" y="4709160"/>
            <a:ext cx="5120640" cy="457200"/>
          </a:xfrm>
          <a:prstGeom prst="rect">
            <a:avLst/>
          </a:prstGeom>
          <a:noFill/>
          <a:ln/>
        </p:spPr>
        <p:txBody>
          <a:bodyPr wrap="square" lIns="0" tIns="0" rIns="0" bIns="0" rtlCol="0" anchor="ctr"/>
          <a:lstStyle/>
          <a:p>
            <a:pPr indent="0" marL="0">
              <a:lnSpc>
                <a:spcPct val="120000"/>
              </a:lnSpc>
              <a:buNone/>
            </a:pPr>
            <a:r>
              <a:rPr lang="en-US" sz="950" i="1" dirty="0">
                <a:solidFill>
                  <a:srgbClr val="5B6B8C"/>
                </a:solidFill>
                <a:latin typeface="Calibri" pitchFamily="34" charset="0"/>
                <a:ea typeface="Calibri" pitchFamily="34" charset="-122"/>
                <a:cs typeface="Calibri" pitchFamily="34" charset="-120"/>
              </a:rPr>
              <a:t>Not to be confused with Wakefit's own store investment cost — this is the advisory engagement budget only.</a:t>
            </a:r>
            <a:endParaRPr lang="en-US" sz="950" dirty="0"/>
          </a:p>
        </p:txBody>
      </p:sp>
      <p:sp>
        <p:nvSpPr>
          <p:cNvPr id="9" name="Text 6"/>
          <p:cNvSpPr txBox="1"/>
          <p:nvPr/>
        </p:nvSpPr>
        <p:spPr>
          <a:xfrm>
            <a:off x="5532120" y="1417320"/>
            <a:ext cx="6156655" cy="292608"/>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Risk Register — Key Items</a:t>
            </a:r>
            <a:endParaRPr lang="en-US" sz="1300" dirty="0"/>
          </a:p>
        </p:txBody>
      </p:sp>
      <p:sp>
        <p:nvSpPr>
          <p:cNvPr id="10" name="Shape 7"/>
          <p:cNvSpPr/>
          <p:nvPr/>
        </p:nvSpPr>
        <p:spPr>
          <a:xfrm>
            <a:off x="5532120" y="1783080"/>
            <a:ext cx="6156655" cy="713232"/>
          </a:xfrm>
          <a:prstGeom prst="roundRect">
            <a:avLst>
              <a:gd name="adj" fmla="val 10256"/>
            </a:avLst>
          </a:prstGeom>
          <a:solidFill>
            <a:srgbClr val="EEF3FC"/>
          </a:solidFill>
          <a:ln/>
          <a:effectLst>
            <a:outerShdw sx="100000" sy="100000" kx="0" ky="0" algn="bl" rotWithShape="0" blurRad="76200" dist="25400" dir="5400000">
              <a:srgbClr val="222222">
                <a:alpha val="12000"/>
              </a:srgbClr>
            </a:outerShdw>
          </a:effectLst>
        </p:spPr>
      </p:sp>
      <p:sp>
        <p:nvSpPr>
          <p:cNvPr id="11" name="Text 8"/>
          <p:cNvSpPr txBox="1"/>
          <p:nvPr/>
        </p:nvSpPr>
        <p:spPr>
          <a:xfrm>
            <a:off x="5715000" y="1856232"/>
            <a:ext cx="5790895" cy="219456"/>
          </a:xfrm>
          <a:prstGeom prst="rect">
            <a:avLst/>
          </a:prstGeom>
          <a:noFill/>
          <a:ln/>
        </p:spPr>
        <p:txBody>
          <a:bodyPr wrap="square" lIns="0" tIns="0" rIns="0" bIns="0" rtlCol="0" anchor="ctr"/>
          <a:lstStyle/>
          <a:p>
            <a:pPr indent="0" marL="0">
              <a:buNone/>
            </a:pPr>
            <a:r>
              <a:rPr lang="en-US" sz="950" b="1" spc="100" kern="0" dirty="0">
                <a:solidFill>
                  <a:srgbClr val="1E2761"/>
                </a:solidFill>
                <a:latin typeface="Calibri" pitchFamily="34" charset="0"/>
                <a:ea typeface="Calibri" pitchFamily="34" charset="-122"/>
                <a:cs typeface="Calibri" pitchFamily="34" charset="-120"/>
              </a:rPr>
              <a:t>FINANCIAL</a:t>
            </a:r>
            <a:endParaRPr lang="en-US" sz="950" dirty="0"/>
          </a:p>
        </p:txBody>
      </p:sp>
      <p:sp>
        <p:nvSpPr>
          <p:cNvPr id="12" name="Text 9"/>
          <p:cNvSpPr txBox="1"/>
          <p:nvPr/>
        </p:nvSpPr>
        <p:spPr>
          <a:xfrm>
            <a:off x="5715000" y="2075688"/>
            <a:ext cx="5790895" cy="384048"/>
          </a:xfrm>
          <a:prstGeom prst="rect">
            <a:avLst/>
          </a:prstGeom>
          <a:noFill/>
          <a:ln/>
        </p:spPr>
        <p:txBody>
          <a:bodyPr wrap="square" lIns="0" tIns="0" rIns="0" bIns="0" rtlCol="0" anchor="ctr"/>
          <a:lstStyle/>
          <a:p>
            <a:pPr indent="0" marL="0">
              <a:lnSpc>
                <a:spcPct val="112000"/>
              </a:lnSpc>
              <a:buNone/>
            </a:pPr>
            <a:r>
              <a:rPr lang="en-US" sz="950" dirty="0">
                <a:solidFill>
                  <a:srgbClr val="5B6B8C"/>
                </a:solidFill>
                <a:latin typeface="Calibri" pitchFamily="34" charset="0"/>
                <a:ea typeface="Calibri" pitchFamily="34" charset="-122"/>
                <a:cs typeface="Calibri" pitchFamily="34" charset="-120"/>
              </a:rPr>
              <a:t>Conflicting EBITDA/PAT across RHP, RoC &amp; disclosures; FY26 PAT inflated by a ~₹98 Cr one-off deferred-tax gain</a:t>
            </a:r>
            <a:endParaRPr lang="en-US" sz="950" dirty="0"/>
          </a:p>
        </p:txBody>
      </p:sp>
      <p:sp>
        <p:nvSpPr>
          <p:cNvPr id="13" name="Shape 10"/>
          <p:cNvSpPr/>
          <p:nvPr/>
        </p:nvSpPr>
        <p:spPr>
          <a:xfrm>
            <a:off x="5532120" y="2606040"/>
            <a:ext cx="6156655" cy="713232"/>
          </a:xfrm>
          <a:prstGeom prst="roundRect">
            <a:avLst>
              <a:gd name="adj" fmla="val 10256"/>
            </a:avLst>
          </a:prstGeom>
          <a:solidFill>
            <a:srgbClr val="EEF3FC"/>
          </a:solidFill>
          <a:ln/>
          <a:effectLst>
            <a:outerShdw sx="100000" sy="100000" kx="0" ky="0" algn="bl" rotWithShape="0" blurRad="76200" dist="25400" dir="5400000">
              <a:srgbClr val="222222">
                <a:alpha val="12000"/>
              </a:srgbClr>
            </a:outerShdw>
          </a:effectLst>
        </p:spPr>
      </p:sp>
      <p:sp>
        <p:nvSpPr>
          <p:cNvPr id="14" name="Text 11"/>
          <p:cNvSpPr txBox="1"/>
          <p:nvPr/>
        </p:nvSpPr>
        <p:spPr>
          <a:xfrm>
            <a:off x="5715000" y="2679192"/>
            <a:ext cx="5790895" cy="219456"/>
          </a:xfrm>
          <a:prstGeom prst="rect">
            <a:avLst/>
          </a:prstGeom>
          <a:noFill/>
          <a:ln/>
        </p:spPr>
        <p:txBody>
          <a:bodyPr wrap="square" lIns="0" tIns="0" rIns="0" bIns="0" rtlCol="0" anchor="ctr"/>
          <a:lstStyle/>
          <a:p>
            <a:pPr indent="0" marL="0">
              <a:buNone/>
            </a:pPr>
            <a:r>
              <a:rPr lang="en-US" sz="950" b="1" spc="100" kern="0" dirty="0">
                <a:solidFill>
                  <a:srgbClr val="1E2761"/>
                </a:solidFill>
                <a:latin typeface="Calibri" pitchFamily="34" charset="0"/>
                <a:ea typeface="Calibri" pitchFamily="34" charset="-122"/>
                <a:cs typeface="Calibri" pitchFamily="34" charset="-120"/>
              </a:rPr>
              <a:t>OPERATIONAL</a:t>
            </a:r>
            <a:endParaRPr lang="en-US" sz="950" dirty="0"/>
          </a:p>
        </p:txBody>
      </p:sp>
      <p:sp>
        <p:nvSpPr>
          <p:cNvPr id="15" name="Text 12"/>
          <p:cNvSpPr txBox="1"/>
          <p:nvPr/>
        </p:nvSpPr>
        <p:spPr>
          <a:xfrm>
            <a:off x="5715000" y="2898648"/>
            <a:ext cx="5790895" cy="384048"/>
          </a:xfrm>
          <a:prstGeom prst="rect">
            <a:avLst/>
          </a:prstGeom>
          <a:noFill/>
          <a:ln/>
        </p:spPr>
        <p:txBody>
          <a:bodyPr wrap="square" lIns="0" tIns="0" rIns="0" bIns="0" rtlCol="0" anchor="ctr"/>
          <a:lstStyle/>
          <a:p>
            <a:pPr indent="0" marL="0">
              <a:lnSpc>
                <a:spcPct val="112000"/>
              </a:lnSpc>
              <a:buNone/>
            </a:pPr>
            <a:r>
              <a:rPr lang="en-US" sz="950" dirty="0">
                <a:solidFill>
                  <a:srgbClr val="5B6B8C"/>
                </a:solidFill>
                <a:latin typeface="Calibri" pitchFamily="34" charset="0"/>
                <a:ea typeface="Calibri" pitchFamily="34" charset="-122"/>
                <a:cs typeface="Calibri" pitchFamily="34" charset="-120"/>
              </a:rPr>
              <a:t>North India POD/INHP logistics locations are not publicly disclosed</a:t>
            </a:r>
            <a:endParaRPr lang="en-US" sz="950" dirty="0"/>
          </a:p>
        </p:txBody>
      </p:sp>
      <p:sp>
        <p:nvSpPr>
          <p:cNvPr id="16" name="Shape 13"/>
          <p:cNvSpPr/>
          <p:nvPr/>
        </p:nvSpPr>
        <p:spPr>
          <a:xfrm>
            <a:off x="5532120" y="3429000"/>
            <a:ext cx="6156655" cy="713232"/>
          </a:xfrm>
          <a:prstGeom prst="roundRect">
            <a:avLst>
              <a:gd name="adj" fmla="val 10256"/>
            </a:avLst>
          </a:prstGeom>
          <a:solidFill>
            <a:srgbClr val="EEF3FC"/>
          </a:solidFill>
          <a:ln/>
          <a:effectLst>
            <a:outerShdw sx="100000" sy="100000" kx="0" ky="0" algn="bl" rotWithShape="0" blurRad="76200" dist="25400" dir="5400000">
              <a:srgbClr val="222222">
                <a:alpha val="12000"/>
              </a:srgbClr>
            </a:outerShdw>
          </a:effectLst>
        </p:spPr>
      </p:sp>
      <p:sp>
        <p:nvSpPr>
          <p:cNvPr id="17" name="Text 14"/>
          <p:cNvSpPr txBox="1"/>
          <p:nvPr/>
        </p:nvSpPr>
        <p:spPr>
          <a:xfrm>
            <a:off x="5715000" y="3502152"/>
            <a:ext cx="5790895" cy="219456"/>
          </a:xfrm>
          <a:prstGeom prst="rect">
            <a:avLst/>
          </a:prstGeom>
          <a:noFill/>
          <a:ln/>
        </p:spPr>
        <p:txBody>
          <a:bodyPr wrap="square" lIns="0" tIns="0" rIns="0" bIns="0" rtlCol="0" anchor="ctr"/>
          <a:lstStyle/>
          <a:p>
            <a:pPr indent="0" marL="0">
              <a:buNone/>
            </a:pPr>
            <a:r>
              <a:rPr lang="en-US" sz="950" b="1" spc="100" kern="0" dirty="0">
                <a:solidFill>
                  <a:srgbClr val="1E2761"/>
                </a:solidFill>
                <a:latin typeface="Calibri" pitchFamily="34" charset="0"/>
                <a:ea typeface="Calibri" pitchFamily="34" charset="-122"/>
                <a:cs typeface="Calibri" pitchFamily="34" charset="-120"/>
              </a:rPr>
              <a:t>COMPETITIVE</a:t>
            </a:r>
            <a:endParaRPr lang="en-US" sz="950" dirty="0"/>
          </a:p>
        </p:txBody>
      </p:sp>
      <p:sp>
        <p:nvSpPr>
          <p:cNvPr id="18" name="Text 15"/>
          <p:cNvSpPr txBox="1"/>
          <p:nvPr/>
        </p:nvSpPr>
        <p:spPr>
          <a:xfrm>
            <a:off x="5715000" y="3721608"/>
            <a:ext cx="5790895" cy="384048"/>
          </a:xfrm>
          <a:prstGeom prst="rect">
            <a:avLst/>
          </a:prstGeom>
          <a:noFill/>
          <a:ln/>
        </p:spPr>
        <p:txBody>
          <a:bodyPr wrap="square" lIns="0" tIns="0" rIns="0" bIns="0" rtlCol="0" anchor="ctr"/>
          <a:lstStyle/>
          <a:p>
            <a:pPr indent="0" marL="0">
              <a:lnSpc>
                <a:spcPct val="112000"/>
              </a:lnSpc>
              <a:buNone/>
            </a:pPr>
            <a:r>
              <a:rPr lang="en-US" sz="950" dirty="0">
                <a:solidFill>
                  <a:srgbClr val="5B6B8C"/>
                </a:solidFill>
                <a:latin typeface="Calibri" pitchFamily="34" charset="0"/>
                <a:ea typeface="Calibri" pitchFamily="34" charset="-122"/>
                <a:cs typeface="Calibri" pitchFamily="34" charset="-120"/>
              </a:rPr>
              <a:t>IKEA's Gurugram (2026) / Noida (2028) timing could shift Wakefit's own sequencing</a:t>
            </a:r>
            <a:endParaRPr lang="en-US" sz="950" dirty="0"/>
          </a:p>
        </p:txBody>
      </p:sp>
      <p:sp>
        <p:nvSpPr>
          <p:cNvPr id="19" name="Shape 16"/>
          <p:cNvSpPr/>
          <p:nvPr/>
        </p:nvSpPr>
        <p:spPr>
          <a:xfrm>
            <a:off x="5532120" y="4251960"/>
            <a:ext cx="6156655" cy="713232"/>
          </a:xfrm>
          <a:prstGeom prst="roundRect">
            <a:avLst>
              <a:gd name="adj" fmla="val 10256"/>
            </a:avLst>
          </a:prstGeom>
          <a:solidFill>
            <a:srgbClr val="EEF3FC"/>
          </a:solidFill>
          <a:ln/>
          <a:effectLst>
            <a:outerShdw sx="100000" sy="100000" kx="0" ky="0" algn="bl" rotWithShape="0" blurRad="76200" dist="25400" dir="5400000">
              <a:srgbClr val="222222">
                <a:alpha val="12000"/>
              </a:srgbClr>
            </a:outerShdw>
          </a:effectLst>
        </p:spPr>
      </p:sp>
      <p:sp>
        <p:nvSpPr>
          <p:cNvPr id="20" name="Text 17"/>
          <p:cNvSpPr txBox="1"/>
          <p:nvPr/>
        </p:nvSpPr>
        <p:spPr>
          <a:xfrm>
            <a:off x="5715000" y="4325112"/>
            <a:ext cx="5790895" cy="219456"/>
          </a:xfrm>
          <a:prstGeom prst="rect">
            <a:avLst/>
          </a:prstGeom>
          <a:noFill/>
          <a:ln/>
        </p:spPr>
        <p:txBody>
          <a:bodyPr wrap="square" lIns="0" tIns="0" rIns="0" bIns="0" rtlCol="0" anchor="ctr"/>
          <a:lstStyle/>
          <a:p>
            <a:pPr indent="0" marL="0">
              <a:buNone/>
            </a:pPr>
            <a:r>
              <a:rPr lang="en-US" sz="950" b="1" spc="100" kern="0" dirty="0">
                <a:solidFill>
                  <a:srgbClr val="1E2761"/>
                </a:solidFill>
                <a:latin typeface="Calibri" pitchFamily="34" charset="0"/>
                <a:ea typeface="Calibri" pitchFamily="34" charset="-122"/>
                <a:cs typeface="Calibri" pitchFamily="34" charset="-120"/>
              </a:rPr>
              <a:t>ESTIMATION</a:t>
            </a:r>
            <a:endParaRPr lang="en-US" sz="950" dirty="0"/>
          </a:p>
        </p:txBody>
      </p:sp>
      <p:sp>
        <p:nvSpPr>
          <p:cNvPr id="21" name="Text 18"/>
          <p:cNvSpPr txBox="1"/>
          <p:nvPr/>
        </p:nvSpPr>
        <p:spPr>
          <a:xfrm>
            <a:off x="5715000" y="4544568"/>
            <a:ext cx="5790895" cy="384048"/>
          </a:xfrm>
          <a:prstGeom prst="rect">
            <a:avLst/>
          </a:prstGeom>
          <a:noFill/>
          <a:ln/>
        </p:spPr>
        <p:txBody>
          <a:bodyPr wrap="square" lIns="0" tIns="0" rIns="0" bIns="0" rtlCol="0" anchor="ctr"/>
          <a:lstStyle/>
          <a:p>
            <a:pPr indent="0" marL="0">
              <a:lnSpc>
                <a:spcPct val="112000"/>
              </a:lnSpc>
              <a:buNone/>
            </a:pPr>
            <a:r>
              <a:rPr lang="en-US" sz="950" dirty="0">
                <a:solidFill>
                  <a:srgbClr val="5B6B8C"/>
                </a:solidFill>
                <a:latin typeface="Calibri" pitchFamily="34" charset="0"/>
                <a:ea typeface="Calibri" pitchFamily="34" charset="-122"/>
                <a:cs typeface="Calibri" pitchFamily="34" charset="-120"/>
              </a:rPr>
              <a:t>The 20–25 store regional figure is the team's own proportional calculation, not RHP-disclosed</a:t>
            </a:r>
            <a:endParaRPr lang="en-US" sz="950" dirty="0"/>
          </a:p>
        </p:txBody>
      </p:sp>
      <p:sp>
        <p:nvSpPr>
          <p:cNvPr id="22" name="Text 19"/>
          <p:cNvSpPr txBox="1"/>
          <p:nvPr/>
        </p:nvSpPr>
        <p:spPr>
          <a:xfrm>
            <a:off x="5532120" y="5102352"/>
            <a:ext cx="6156655" cy="365760"/>
          </a:xfrm>
          <a:prstGeom prst="rect">
            <a:avLst/>
          </a:prstGeom>
          <a:noFill/>
          <a:ln/>
        </p:spPr>
        <p:txBody>
          <a:bodyPr wrap="square" lIns="0" tIns="0" rIns="0" bIns="0" rtlCol="0" anchor="ctr"/>
          <a:lstStyle/>
          <a:p>
            <a:pPr indent="0" marL="0">
              <a:lnSpc>
                <a:spcPct val="115000"/>
              </a:lnSpc>
              <a:buNone/>
            </a:pPr>
            <a:r>
              <a:rPr lang="en-US" sz="900" i="1" dirty="0">
                <a:solidFill>
                  <a:srgbClr val="5B6B8C"/>
                </a:solidFill>
                <a:latin typeface="Calibri" pitchFamily="34" charset="0"/>
                <a:ea typeface="Calibri" pitchFamily="34" charset="-122"/>
                <a:cs typeface="Calibri" pitchFamily="34" charset="-120"/>
              </a:rPr>
              <a:t>Mitigation: source and definition cited wherever financials are used; conservative assumptions flagged explicitly.</a:t>
            </a:r>
            <a:endParaRPr lang="en-US" sz="900" dirty="0"/>
          </a:p>
        </p:txBody>
      </p:sp>
      <p:sp>
        <p:nvSpPr>
          <p:cNvPr id="23" name="Text 20"/>
          <p:cNvSpPr txBox="1"/>
          <p:nvPr/>
        </p:nvSpPr>
        <p:spPr>
          <a:xfrm>
            <a:off x="502920" y="6492240"/>
            <a:ext cx="11185855" cy="274320"/>
          </a:xfrm>
          <a:prstGeom prst="rect">
            <a:avLst/>
          </a:prstGeom>
          <a:noFill/>
          <a:ln/>
        </p:spPr>
        <p:txBody>
          <a:bodyPr wrap="square" lIns="0" tIns="0" rIns="0" bIns="0" rtlCol="0" anchor="ctr"/>
          <a:lstStyle/>
          <a:p>
            <a:pPr indent="0" marL="0">
              <a:buNone/>
            </a:pPr>
            <a:r>
              <a:rPr lang="en-US" sz="900" dirty="0">
                <a:solidFill>
                  <a:srgbClr val="5B6B8C"/>
                </a:solidFill>
                <a:latin typeface="Calibri" pitchFamily="34" charset="0"/>
                <a:ea typeface="Calibri" pitchFamily="34" charset="-122"/>
                <a:cs typeface="Calibri" pitchFamily="34" charset="-120"/>
              </a:rPr>
              <a:t>Owner: Mayank Jain (Finance Head) — cost estimation, compliance requirements, risk assessment &amp; mitigation.</a:t>
            </a:r>
            <a:endParaRPr lang="en-US" sz="900" dirty="0"/>
          </a:p>
        </p:txBody>
      </p:sp>
      <p:sp>
        <p:nvSpPr>
          <p:cNvPr id="24" name="Text 21"/>
          <p:cNvSpPr txBox="1"/>
          <p:nvPr/>
        </p:nvSpPr>
        <p:spPr>
          <a:xfrm>
            <a:off x="8945575" y="6492240"/>
            <a:ext cx="2743200" cy="274320"/>
          </a:xfrm>
          <a:prstGeom prst="rect">
            <a:avLst/>
          </a:prstGeom>
          <a:noFill/>
          <a:ln/>
        </p:spPr>
        <p:txBody>
          <a:bodyPr wrap="square" lIns="0" tIns="0" rIns="0" bIns="0" rtlCol="0" anchor="ctr"/>
          <a:lstStyle/>
          <a:p>
            <a:pPr algn="r" indent="0" marL="0">
              <a:buNone/>
            </a:pPr>
            <a:r>
              <a:rPr lang="en-US" sz="900" dirty="0">
                <a:solidFill>
                  <a:srgbClr val="5B6B8C"/>
                </a:solidFill>
                <a:latin typeface="Calibri" pitchFamily="34" charset="0"/>
                <a:ea typeface="Calibri" pitchFamily="34" charset="-122"/>
                <a:cs typeface="Calibri" pitchFamily="34" charset="-120"/>
              </a:rPr>
              <a:t>M6 — Final PMO Review</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57200"/>
            <a:ext cx="457200" cy="457200"/>
          </a:xfrm>
          <a:prstGeom prst="ellipse">
            <a:avLst/>
          </a:prstGeom>
          <a:solidFill>
            <a:srgbClr val="1E2761"/>
          </a:solidFill>
          <a:ln/>
        </p:spPr>
      </p:sp>
      <p:sp>
        <p:nvSpPr>
          <p:cNvPr id="3" name="Text 1"/>
          <p:cNvSpPr txBox="1"/>
          <p:nvPr/>
        </p:nvSpPr>
        <p:spPr>
          <a:xfrm>
            <a:off x="502920" y="4572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4" name="Text 2"/>
          <p:cNvSpPr txBox="1"/>
          <p:nvPr/>
        </p:nvSpPr>
        <p:spPr>
          <a:xfrm>
            <a:off x="1124712" y="384048"/>
            <a:ext cx="8229600" cy="274320"/>
          </a:xfrm>
          <a:prstGeom prst="rect">
            <a:avLst/>
          </a:prstGeom>
          <a:noFill/>
          <a:ln/>
        </p:spPr>
        <p:txBody>
          <a:bodyPr wrap="square" lIns="0" tIns="0" rIns="0" bIns="0" rtlCol="0" anchor="ctr"/>
          <a:lstStyle/>
          <a:p>
            <a:pPr indent="0" marL="0">
              <a:buNone/>
            </a:pPr>
            <a:r>
              <a:rPr lang="en-US" sz="1200" b="1" spc="150" kern="0" dirty="0">
                <a:solidFill>
                  <a:srgbClr val="5B6B8C"/>
                </a:solidFill>
                <a:latin typeface="Calibri" pitchFamily="34" charset="0"/>
                <a:ea typeface="Calibri" pitchFamily="34" charset="-122"/>
                <a:cs typeface="Calibri" pitchFamily="34" charset="-120"/>
              </a:rPr>
              <a:t>SCHEDULING &amp; CHANGE RESPONSE · DID WE STILL DELIVER ON TIME</a:t>
            </a:r>
            <a:endParaRPr lang="en-US" sz="1200" dirty="0"/>
          </a:p>
        </p:txBody>
      </p:sp>
      <p:sp>
        <p:nvSpPr>
          <p:cNvPr id="5" name="Text 3"/>
          <p:cNvSpPr txBox="1"/>
          <p:nvPr/>
        </p:nvSpPr>
        <p:spPr>
          <a:xfrm>
            <a:off x="1124712" y="621792"/>
            <a:ext cx="10564063" cy="566928"/>
          </a:xfrm>
          <a:prstGeom prst="rect">
            <a:avLst/>
          </a:prstGeom>
          <a:noFill/>
          <a:ln/>
        </p:spPr>
        <p:txBody>
          <a:bodyPr wrap="square" lIns="0" tIns="0" rIns="0" bIns="0" rtlCol="0" anchor="ctr"/>
          <a:lstStyle/>
          <a:p>
            <a:pPr indent="0" marL="0">
              <a:buNone/>
            </a:pPr>
            <a:r>
              <a:rPr lang="en-US" sz="2700" b="1" dirty="0">
                <a:solidFill>
                  <a:srgbClr val="1E2761"/>
                </a:solidFill>
                <a:latin typeface="Cambria" pitchFamily="34" charset="0"/>
                <a:ea typeface="Cambria" pitchFamily="34" charset="-122"/>
                <a:cs typeface="Cambria" pitchFamily="34" charset="-120"/>
              </a:rPr>
              <a:t>Schedule, Critical Path &amp; the R-06 Disruption</a:t>
            </a:r>
            <a:endParaRPr lang="en-US" sz="2700" dirty="0"/>
          </a:p>
        </p:txBody>
      </p:sp>
      <p:sp>
        <p:nvSpPr>
          <p:cNvPr id="6" name="Text 4"/>
          <p:cNvSpPr txBox="1"/>
          <p:nvPr/>
        </p:nvSpPr>
        <p:spPr>
          <a:xfrm>
            <a:off x="502920" y="1371600"/>
            <a:ext cx="11185855" cy="256032"/>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Critical Path (M4, CPM-confirmed)</a:t>
            </a:r>
            <a:endParaRPr lang="en-US" sz="1300" dirty="0"/>
          </a:p>
        </p:txBody>
      </p:sp>
      <p:sp>
        <p:nvSpPr>
          <p:cNvPr id="7" name="Shape 5"/>
          <p:cNvSpPr/>
          <p:nvPr/>
        </p:nvSpPr>
        <p:spPr>
          <a:xfrm>
            <a:off x="502920" y="1691640"/>
            <a:ext cx="856717" cy="502920"/>
          </a:xfrm>
          <a:prstGeom prst="roundRect">
            <a:avLst>
              <a:gd name="adj" fmla="val 14545"/>
            </a:avLst>
          </a:prstGeom>
          <a:solidFill>
            <a:srgbClr val="1E2761"/>
          </a:solidFill>
          <a:ln/>
          <a:effectLst>
            <a:outerShdw sx="100000" sy="100000" kx="0" ky="0" algn="bl" rotWithShape="0" blurRad="76200" dist="25400" dir="5400000">
              <a:srgbClr val="222222">
                <a:alpha val="12000"/>
              </a:srgbClr>
            </a:outerShdw>
          </a:effectLst>
        </p:spPr>
      </p:sp>
      <p:sp>
        <p:nvSpPr>
          <p:cNvPr id="8" name="Text 6"/>
          <p:cNvSpPr txBox="1"/>
          <p:nvPr/>
        </p:nvSpPr>
        <p:spPr>
          <a:xfrm>
            <a:off x="502920" y="1691640"/>
            <a:ext cx="856717" cy="5029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0.1</a:t>
            </a:r>
            <a:endParaRPr lang="en-US" sz="1100" dirty="0"/>
          </a:p>
        </p:txBody>
      </p:sp>
      <p:sp>
        <p:nvSpPr>
          <p:cNvPr id="9" name="Shape 7"/>
          <p:cNvSpPr/>
          <p:nvPr/>
        </p:nvSpPr>
        <p:spPr>
          <a:xfrm>
            <a:off x="1441933" y="1691640"/>
            <a:ext cx="856717" cy="502920"/>
          </a:xfrm>
          <a:prstGeom prst="roundRect">
            <a:avLst>
              <a:gd name="adj" fmla="val 14545"/>
            </a:avLst>
          </a:prstGeom>
          <a:solidFill>
            <a:srgbClr val="1E2761"/>
          </a:solidFill>
          <a:ln/>
          <a:effectLst>
            <a:outerShdw sx="100000" sy="100000" kx="0" ky="0" algn="bl" rotWithShape="0" blurRad="76200" dist="25400" dir="5400000">
              <a:srgbClr val="222222">
                <a:alpha val="12000"/>
              </a:srgbClr>
            </a:outerShdw>
          </a:effectLst>
        </p:spPr>
      </p:sp>
      <p:sp>
        <p:nvSpPr>
          <p:cNvPr id="10" name="Text 8"/>
          <p:cNvSpPr txBox="1"/>
          <p:nvPr/>
        </p:nvSpPr>
        <p:spPr>
          <a:xfrm>
            <a:off x="1441933" y="1691640"/>
            <a:ext cx="856717" cy="5029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0.2</a:t>
            </a:r>
            <a:endParaRPr lang="en-US" sz="1100" dirty="0"/>
          </a:p>
        </p:txBody>
      </p:sp>
      <p:sp>
        <p:nvSpPr>
          <p:cNvPr id="11" name="Shape 9"/>
          <p:cNvSpPr/>
          <p:nvPr/>
        </p:nvSpPr>
        <p:spPr>
          <a:xfrm>
            <a:off x="2380945" y="1691640"/>
            <a:ext cx="856717" cy="502920"/>
          </a:xfrm>
          <a:prstGeom prst="roundRect">
            <a:avLst>
              <a:gd name="adj" fmla="val 14545"/>
            </a:avLst>
          </a:prstGeom>
          <a:solidFill>
            <a:srgbClr val="1E2761"/>
          </a:solidFill>
          <a:ln/>
          <a:effectLst>
            <a:outerShdw sx="100000" sy="100000" kx="0" ky="0" algn="bl" rotWithShape="0" blurRad="76200" dist="25400" dir="5400000">
              <a:srgbClr val="222222">
                <a:alpha val="12000"/>
              </a:srgbClr>
            </a:outerShdw>
          </a:effectLst>
        </p:spPr>
      </p:sp>
      <p:sp>
        <p:nvSpPr>
          <p:cNvPr id="12" name="Text 10"/>
          <p:cNvSpPr txBox="1"/>
          <p:nvPr/>
        </p:nvSpPr>
        <p:spPr>
          <a:xfrm>
            <a:off x="2380945" y="1691640"/>
            <a:ext cx="856717" cy="5029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1.1</a:t>
            </a:r>
            <a:endParaRPr lang="en-US" sz="1100" dirty="0"/>
          </a:p>
        </p:txBody>
      </p:sp>
      <p:sp>
        <p:nvSpPr>
          <p:cNvPr id="13" name="Shape 11"/>
          <p:cNvSpPr/>
          <p:nvPr/>
        </p:nvSpPr>
        <p:spPr>
          <a:xfrm>
            <a:off x="3319958" y="1691640"/>
            <a:ext cx="856717" cy="502920"/>
          </a:xfrm>
          <a:prstGeom prst="roundRect">
            <a:avLst>
              <a:gd name="adj" fmla="val 14545"/>
            </a:avLst>
          </a:prstGeom>
          <a:solidFill>
            <a:srgbClr val="1E2761"/>
          </a:solidFill>
          <a:ln/>
          <a:effectLst>
            <a:outerShdw sx="100000" sy="100000" kx="0" ky="0" algn="bl" rotWithShape="0" blurRad="76200" dist="25400" dir="5400000">
              <a:srgbClr val="222222">
                <a:alpha val="12000"/>
              </a:srgbClr>
            </a:outerShdw>
          </a:effectLst>
        </p:spPr>
      </p:sp>
      <p:sp>
        <p:nvSpPr>
          <p:cNvPr id="14" name="Text 12"/>
          <p:cNvSpPr txBox="1"/>
          <p:nvPr/>
        </p:nvSpPr>
        <p:spPr>
          <a:xfrm>
            <a:off x="3319958" y="1691640"/>
            <a:ext cx="856717" cy="5029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1.3</a:t>
            </a:r>
            <a:endParaRPr lang="en-US" sz="1100" dirty="0"/>
          </a:p>
        </p:txBody>
      </p:sp>
      <p:sp>
        <p:nvSpPr>
          <p:cNvPr id="15" name="Shape 13"/>
          <p:cNvSpPr/>
          <p:nvPr/>
        </p:nvSpPr>
        <p:spPr>
          <a:xfrm>
            <a:off x="4258970" y="1691640"/>
            <a:ext cx="856717" cy="502920"/>
          </a:xfrm>
          <a:prstGeom prst="roundRect">
            <a:avLst>
              <a:gd name="adj" fmla="val 14545"/>
            </a:avLst>
          </a:prstGeom>
          <a:solidFill>
            <a:srgbClr val="1E2761"/>
          </a:solidFill>
          <a:ln/>
          <a:effectLst>
            <a:outerShdw sx="100000" sy="100000" kx="0" ky="0" algn="bl" rotWithShape="0" blurRad="76200" dist="25400" dir="5400000">
              <a:srgbClr val="222222">
                <a:alpha val="12000"/>
              </a:srgbClr>
            </a:outerShdw>
          </a:effectLst>
        </p:spPr>
      </p:sp>
      <p:sp>
        <p:nvSpPr>
          <p:cNvPr id="16" name="Text 14"/>
          <p:cNvSpPr txBox="1"/>
          <p:nvPr/>
        </p:nvSpPr>
        <p:spPr>
          <a:xfrm>
            <a:off x="4258970" y="1691640"/>
            <a:ext cx="856717" cy="5029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1.4</a:t>
            </a:r>
            <a:endParaRPr lang="en-US" sz="1100" dirty="0"/>
          </a:p>
        </p:txBody>
      </p:sp>
      <p:sp>
        <p:nvSpPr>
          <p:cNvPr id="17" name="Shape 15"/>
          <p:cNvSpPr/>
          <p:nvPr/>
        </p:nvSpPr>
        <p:spPr>
          <a:xfrm>
            <a:off x="5197983" y="1691640"/>
            <a:ext cx="856717" cy="502920"/>
          </a:xfrm>
          <a:prstGeom prst="roundRect">
            <a:avLst>
              <a:gd name="adj" fmla="val 14545"/>
            </a:avLst>
          </a:prstGeom>
          <a:solidFill>
            <a:srgbClr val="1E2761"/>
          </a:solidFill>
          <a:ln/>
          <a:effectLst>
            <a:outerShdw sx="100000" sy="100000" kx="0" ky="0" algn="bl" rotWithShape="0" blurRad="76200" dist="25400" dir="5400000">
              <a:srgbClr val="222222">
                <a:alpha val="12000"/>
              </a:srgbClr>
            </a:outerShdw>
          </a:effectLst>
        </p:spPr>
      </p:sp>
      <p:sp>
        <p:nvSpPr>
          <p:cNvPr id="18" name="Text 16"/>
          <p:cNvSpPr txBox="1"/>
          <p:nvPr/>
        </p:nvSpPr>
        <p:spPr>
          <a:xfrm>
            <a:off x="5197983" y="1691640"/>
            <a:ext cx="856717" cy="5029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2.1</a:t>
            </a:r>
            <a:endParaRPr lang="en-US" sz="1100" dirty="0"/>
          </a:p>
        </p:txBody>
      </p:sp>
      <p:sp>
        <p:nvSpPr>
          <p:cNvPr id="19" name="Shape 17"/>
          <p:cNvSpPr/>
          <p:nvPr/>
        </p:nvSpPr>
        <p:spPr>
          <a:xfrm>
            <a:off x="6136996" y="1691640"/>
            <a:ext cx="856717" cy="502920"/>
          </a:xfrm>
          <a:prstGeom prst="roundRect">
            <a:avLst>
              <a:gd name="adj" fmla="val 14545"/>
            </a:avLst>
          </a:prstGeom>
          <a:solidFill>
            <a:srgbClr val="1E2761"/>
          </a:solidFill>
          <a:ln/>
          <a:effectLst>
            <a:outerShdw sx="100000" sy="100000" kx="0" ky="0" algn="bl" rotWithShape="0" blurRad="76200" dist="25400" dir="5400000">
              <a:srgbClr val="222222">
                <a:alpha val="12000"/>
              </a:srgbClr>
            </a:outerShdw>
          </a:effectLst>
        </p:spPr>
      </p:sp>
      <p:sp>
        <p:nvSpPr>
          <p:cNvPr id="20" name="Text 18"/>
          <p:cNvSpPr txBox="1"/>
          <p:nvPr/>
        </p:nvSpPr>
        <p:spPr>
          <a:xfrm>
            <a:off x="6136996" y="1691640"/>
            <a:ext cx="856717" cy="5029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2.2</a:t>
            </a:r>
            <a:endParaRPr lang="en-US" sz="1100" dirty="0"/>
          </a:p>
        </p:txBody>
      </p:sp>
      <p:sp>
        <p:nvSpPr>
          <p:cNvPr id="21" name="Shape 19"/>
          <p:cNvSpPr/>
          <p:nvPr/>
        </p:nvSpPr>
        <p:spPr>
          <a:xfrm>
            <a:off x="7076008" y="1691640"/>
            <a:ext cx="856717" cy="502920"/>
          </a:xfrm>
          <a:prstGeom prst="roundRect">
            <a:avLst>
              <a:gd name="adj" fmla="val 14545"/>
            </a:avLst>
          </a:prstGeom>
          <a:solidFill>
            <a:srgbClr val="1E2761"/>
          </a:solidFill>
          <a:ln/>
          <a:effectLst>
            <a:outerShdw sx="100000" sy="100000" kx="0" ky="0" algn="bl" rotWithShape="0" blurRad="76200" dist="25400" dir="5400000">
              <a:srgbClr val="222222">
                <a:alpha val="12000"/>
              </a:srgbClr>
            </a:outerShdw>
          </a:effectLst>
        </p:spPr>
      </p:sp>
      <p:sp>
        <p:nvSpPr>
          <p:cNvPr id="22" name="Text 20"/>
          <p:cNvSpPr txBox="1"/>
          <p:nvPr/>
        </p:nvSpPr>
        <p:spPr>
          <a:xfrm>
            <a:off x="7076008" y="1691640"/>
            <a:ext cx="856717" cy="5029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3.1</a:t>
            </a:r>
            <a:endParaRPr lang="en-US" sz="1100" dirty="0"/>
          </a:p>
        </p:txBody>
      </p:sp>
      <p:sp>
        <p:nvSpPr>
          <p:cNvPr id="23" name="Shape 21"/>
          <p:cNvSpPr/>
          <p:nvPr/>
        </p:nvSpPr>
        <p:spPr>
          <a:xfrm>
            <a:off x="8015021" y="1691640"/>
            <a:ext cx="856717" cy="502920"/>
          </a:xfrm>
          <a:prstGeom prst="roundRect">
            <a:avLst>
              <a:gd name="adj" fmla="val 14545"/>
            </a:avLst>
          </a:prstGeom>
          <a:solidFill>
            <a:srgbClr val="B23A3A"/>
          </a:solidFill>
          <a:ln/>
          <a:effectLst>
            <a:outerShdw sx="100000" sy="100000" kx="0" ky="0" algn="bl" rotWithShape="0" blurRad="76200" dist="25400" dir="5400000">
              <a:srgbClr val="222222">
                <a:alpha val="12000"/>
              </a:srgbClr>
            </a:outerShdw>
          </a:effectLst>
        </p:spPr>
      </p:sp>
      <p:sp>
        <p:nvSpPr>
          <p:cNvPr id="24" name="Text 22"/>
          <p:cNvSpPr txBox="1"/>
          <p:nvPr/>
        </p:nvSpPr>
        <p:spPr>
          <a:xfrm>
            <a:off x="8015021" y="1691640"/>
            <a:ext cx="856717" cy="5029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3.2</a:t>
            </a:r>
            <a:endParaRPr lang="en-US" sz="1100" dirty="0"/>
          </a:p>
        </p:txBody>
      </p:sp>
      <p:sp>
        <p:nvSpPr>
          <p:cNvPr id="25" name="Shape 23"/>
          <p:cNvSpPr/>
          <p:nvPr/>
        </p:nvSpPr>
        <p:spPr>
          <a:xfrm>
            <a:off x="8954033" y="1691640"/>
            <a:ext cx="856717" cy="502920"/>
          </a:xfrm>
          <a:prstGeom prst="roundRect">
            <a:avLst>
              <a:gd name="adj" fmla="val 14545"/>
            </a:avLst>
          </a:prstGeom>
          <a:solidFill>
            <a:srgbClr val="1E2761"/>
          </a:solidFill>
          <a:ln/>
          <a:effectLst>
            <a:outerShdw sx="100000" sy="100000" kx="0" ky="0" algn="bl" rotWithShape="0" blurRad="76200" dist="25400" dir="5400000">
              <a:srgbClr val="222222">
                <a:alpha val="12000"/>
              </a:srgbClr>
            </a:outerShdw>
          </a:effectLst>
        </p:spPr>
      </p:sp>
      <p:sp>
        <p:nvSpPr>
          <p:cNvPr id="26" name="Text 24"/>
          <p:cNvSpPr txBox="1"/>
          <p:nvPr/>
        </p:nvSpPr>
        <p:spPr>
          <a:xfrm>
            <a:off x="8954033" y="1691640"/>
            <a:ext cx="856717" cy="5029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3.3</a:t>
            </a:r>
            <a:endParaRPr lang="en-US" sz="1100" dirty="0"/>
          </a:p>
        </p:txBody>
      </p:sp>
      <p:sp>
        <p:nvSpPr>
          <p:cNvPr id="27" name="Shape 25"/>
          <p:cNvSpPr/>
          <p:nvPr/>
        </p:nvSpPr>
        <p:spPr>
          <a:xfrm>
            <a:off x="9893046" y="1691640"/>
            <a:ext cx="856717" cy="502920"/>
          </a:xfrm>
          <a:prstGeom prst="roundRect">
            <a:avLst>
              <a:gd name="adj" fmla="val 14545"/>
            </a:avLst>
          </a:prstGeom>
          <a:solidFill>
            <a:srgbClr val="B23A3A"/>
          </a:solidFill>
          <a:ln/>
          <a:effectLst>
            <a:outerShdw sx="100000" sy="100000" kx="0" ky="0" algn="bl" rotWithShape="0" blurRad="76200" dist="25400" dir="5400000">
              <a:srgbClr val="222222">
                <a:alpha val="12000"/>
              </a:srgbClr>
            </a:outerShdw>
          </a:effectLst>
        </p:spPr>
      </p:sp>
      <p:sp>
        <p:nvSpPr>
          <p:cNvPr id="28" name="Text 26"/>
          <p:cNvSpPr txBox="1"/>
          <p:nvPr/>
        </p:nvSpPr>
        <p:spPr>
          <a:xfrm>
            <a:off x="9893046" y="1691640"/>
            <a:ext cx="856717" cy="5029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4.4</a:t>
            </a:r>
            <a:endParaRPr lang="en-US" sz="1100" dirty="0"/>
          </a:p>
        </p:txBody>
      </p:sp>
      <p:sp>
        <p:nvSpPr>
          <p:cNvPr id="29" name="Shape 27"/>
          <p:cNvSpPr/>
          <p:nvPr/>
        </p:nvSpPr>
        <p:spPr>
          <a:xfrm>
            <a:off x="10832059" y="1691640"/>
            <a:ext cx="856717" cy="502920"/>
          </a:xfrm>
          <a:prstGeom prst="roundRect">
            <a:avLst>
              <a:gd name="adj" fmla="val 14545"/>
            </a:avLst>
          </a:prstGeom>
          <a:solidFill>
            <a:srgbClr val="1E2761"/>
          </a:solidFill>
          <a:ln/>
          <a:effectLst>
            <a:outerShdw sx="100000" sy="100000" kx="0" ky="0" algn="bl" rotWithShape="0" blurRad="76200" dist="25400" dir="5400000">
              <a:srgbClr val="222222">
                <a:alpha val="12000"/>
              </a:srgbClr>
            </a:outerShdw>
          </a:effectLst>
        </p:spPr>
      </p:sp>
      <p:sp>
        <p:nvSpPr>
          <p:cNvPr id="30" name="Text 28"/>
          <p:cNvSpPr txBox="1"/>
          <p:nvPr/>
        </p:nvSpPr>
        <p:spPr>
          <a:xfrm>
            <a:off x="10832059" y="1691640"/>
            <a:ext cx="856717" cy="5029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4.5</a:t>
            </a:r>
            <a:endParaRPr lang="en-US" sz="1100" dirty="0"/>
          </a:p>
        </p:txBody>
      </p:sp>
      <p:sp>
        <p:nvSpPr>
          <p:cNvPr id="31" name="Text 29"/>
          <p:cNvSpPr txBox="1"/>
          <p:nvPr/>
        </p:nvSpPr>
        <p:spPr>
          <a:xfrm>
            <a:off x="502920" y="2267712"/>
            <a:ext cx="11185855" cy="256032"/>
          </a:xfrm>
          <a:prstGeom prst="rect">
            <a:avLst/>
          </a:prstGeom>
          <a:noFill/>
          <a:ln/>
        </p:spPr>
        <p:txBody>
          <a:bodyPr wrap="square" lIns="0" tIns="0" rIns="0" bIns="0" rtlCol="0" anchor="ctr"/>
          <a:lstStyle/>
          <a:p>
            <a:pPr indent="0" marL="0">
              <a:buNone/>
            </a:pPr>
            <a:r>
              <a:rPr lang="en-US" sz="950" i="1" dirty="0">
                <a:solidFill>
                  <a:srgbClr val="5B6B8C"/>
                </a:solidFill>
                <a:latin typeface="Calibri" pitchFamily="34" charset="0"/>
                <a:ea typeface="Calibri" pitchFamily="34" charset="-122"/>
                <a:cs typeface="Calibri" pitchFamily="34" charset="-120"/>
              </a:rPr>
              <a:t>Zero float on the full sequence — every activity above is critical. Red = R-06-affected (soft-validated, see below).</a:t>
            </a:r>
            <a:endParaRPr lang="en-US" sz="950" dirty="0"/>
          </a:p>
        </p:txBody>
      </p:sp>
      <p:sp>
        <p:nvSpPr>
          <p:cNvPr id="32" name="Shape 30"/>
          <p:cNvSpPr/>
          <p:nvPr/>
        </p:nvSpPr>
        <p:spPr>
          <a:xfrm>
            <a:off x="502920" y="2697480"/>
            <a:ext cx="4572000" cy="2514600"/>
          </a:xfrm>
          <a:prstGeom prst="roundRect">
            <a:avLst>
              <a:gd name="adj" fmla="val 2909"/>
            </a:avLst>
          </a:prstGeom>
          <a:solidFill>
            <a:srgbClr val="1E2761"/>
          </a:solidFill>
          <a:ln/>
          <a:effectLst>
            <a:outerShdw sx="100000" sy="100000" kx="0" ky="0" algn="bl" rotWithShape="0" blurRad="76200" dist="25400" dir="5400000">
              <a:srgbClr val="222222">
                <a:alpha val="12000"/>
              </a:srgbClr>
            </a:outerShdw>
          </a:effectLst>
        </p:spPr>
      </p:sp>
      <p:sp>
        <p:nvSpPr>
          <p:cNvPr id="33" name="Shape 31"/>
          <p:cNvSpPr/>
          <p:nvPr/>
        </p:nvSpPr>
        <p:spPr>
          <a:xfrm>
            <a:off x="731520" y="2907792"/>
            <a:ext cx="457200" cy="457200"/>
          </a:xfrm>
          <a:prstGeom prst="ellipse">
            <a:avLst/>
          </a:prstGeom>
          <a:solidFill>
            <a:srgbClr val="B23A3A"/>
          </a:solidFill>
          <a:ln/>
        </p:spPr>
      </p:sp>
      <p:sp>
        <p:nvSpPr>
          <p:cNvPr id="34" name="Text 32"/>
          <p:cNvSpPr txBox="1"/>
          <p:nvPr/>
        </p:nvSpPr>
        <p:spPr>
          <a:xfrm>
            <a:off x="731520" y="2907792"/>
            <a:ext cx="457200" cy="45720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R-06</a:t>
            </a:r>
            <a:endParaRPr lang="en-US" sz="1000" dirty="0"/>
          </a:p>
        </p:txBody>
      </p:sp>
      <p:sp>
        <p:nvSpPr>
          <p:cNvPr id="35" name="Text 33"/>
          <p:cNvSpPr txBox="1"/>
          <p:nvPr/>
        </p:nvSpPr>
        <p:spPr>
          <a:xfrm>
            <a:off x="1325880" y="2907792"/>
            <a:ext cx="3566160" cy="274320"/>
          </a:xfrm>
          <a:prstGeom prst="rect">
            <a:avLst/>
          </a:prstGeom>
          <a:noFill/>
          <a:ln/>
        </p:spPr>
        <p:txBody>
          <a:bodyPr wrap="square" lIns="0" tIns="0" rIns="0" bIns="0" rtlCol="0" anchor="ctr"/>
          <a:lstStyle/>
          <a:p>
            <a:pPr indent="0" marL="0">
              <a:buNone/>
            </a:pPr>
            <a:r>
              <a:rPr lang="en-US" sz="1050" b="1" spc="50" kern="0" dirty="0">
                <a:solidFill>
                  <a:srgbClr val="CADCFC"/>
                </a:solidFill>
                <a:latin typeface="Calibri" pitchFamily="34" charset="0"/>
                <a:ea typeface="Calibri" pitchFamily="34" charset="-122"/>
                <a:cs typeface="Calibri" pitchFamily="34" charset="-120"/>
              </a:rPr>
              <a:t>STAKEHOLDER RISK — SCORE 9 (HIGH)</a:t>
            </a:r>
            <a:endParaRPr lang="en-US" sz="1050" dirty="0"/>
          </a:p>
        </p:txBody>
      </p:sp>
      <p:sp>
        <p:nvSpPr>
          <p:cNvPr id="36" name="Text 34"/>
          <p:cNvSpPr txBox="1"/>
          <p:nvPr/>
        </p:nvSpPr>
        <p:spPr>
          <a:xfrm>
            <a:off x="731520" y="3310128"/>
            <a:ext cx="4114800" cy="1005840"/>
          </a:xfrm>
          <a:prstGeom prst="rect">
            <a:avLst/>
          </a:prstGeom>
          <a:noFill/>
          <a:ln/>
        </p:spPr>
        <p:txBody>
          <a:bodyPr wrap="square" lIns="0" tIns="0" rIns="0" bIns="0" rtlCol="0" anchor="ctr"/>
          <a:lstStyle/>
          <a:p>
            <a:pPr indent="0" marL="0">
              <a:lnSpc>
                <a:spcPct val="120000"/>
              </a:lnSpc>
              <a:buNone/>
            </a:pPr>
            <a:r>
              <a:rPr lang="en-US" sz="1000" dirty="0">
                <a:solidFill>
                  <a:srgbClr val="CADCFC"/>
                </a:solidFill>
                <a:latin typeface="Calibri" pitchFamily="34" charset="0"/>
                <a:ea typeface="Calibri" pitchFamily="34" charset="-122"/>
                <a:cs typeface="Calibri" pitchFamily="34" charset="-120"/>
              </a:rPr>
              <a:t>On 1 Sept, sole stakeholder Daljeet Singh became unreachable 2–16 Sept — the exact window WBS 3.2 was due to start, covering all remaining work. His return (16 Sept) falls after the 15 Sept deadline.</a:t>
            </a:r>
            <a:endParaRPr lang="en-US" sz="1000" dirty="0"/>
          </a:p>
        </p:txBody>
      </p:sp>
      <p:sp>
        <p:nvSpPr>
          <p:cNvPr id="37" name="Text 35"/>
          <p:cNvSpPr txBox="1"/>
          <p:nvPr/>
        </p:nvSpPr>
        <p:spPr>
          <a:xfrm>
            <a:off x="731520" y="4434840"/>
            <a:ext cx="4114800" cy="274320"/>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Probability: High (3)   ×   Impact: High (3)</a:t>
            </a:r>
            <a:endParaRPr lang="en-US" sz="1000" dirty="0"/>
          </a:p>
        </p:txBody>
      </p:sp>
      <p:sp>
        <p:nvSpPr>
          <p:cNvPr id="38" name="Text 36"/>
          <p:cNvSpPr txBox="1"/>
          <p:nvPr/>
        </p:nvSpPr>
        <p:spPr>
          <a:xfrm>
            <a:off x="731520" y="4736592"/>
            <a:ext cx="4114800" cy="411480"/>
          </a:xfrm>
          <a:prstGeom prst="rect">
            <a:avLst/>
          </a:prstGeom>
          <a:noFill/>
          <a:ln/>
        </p:spPr>
        <p:txBody>
          <a:bodyPr wrap="square" lIns="0" tIns="0" rIns="0" bIns="0" rtlCol="0" anchor="ctr"/>
          <a:lstStyle/>
          <a:p>
            <a:pPr indent="0" marL="0">
              <a:lnSpc>
                <a:spcPct val="115000"/>
              </a:lnSpc>
              <a:buNone/>
            </a:pPr>
            <a:r>
              <a:rPr lang="en-US" sz="950" i="1" dirty="0">
                <a:solidFill>
                  <a:srgbClr val="CADCFC"/>
                </a:solidFill>
                <a:latin typeface="Calibri" pitchFamily="34" charset="0"/>
                <a:ea typeface="Calibri" pitchFamily="34" charset="-122"/>
                <a:cs typeface="Calibri" pitchFamily="34" charset="-120"/>
              </a:rPr>
              <a:t>3.2 and 4.4 both carry zero float on the CPM calculation — either delay is a day-for-day project delay.</a:t>
            </a:r>
            <a:endParaRPr lang="en-US" sz="950" dirty="0"/>
          </a:p>
        </p:txBody>
      </p:sp>
      <p:sp>
        <p:nvSpPr>
          <p:cNvPr id="39" name="Text 37"/>
          <p:cNvSpPr txBox="1"/>
          <p:nvPr/>
        </p:nvSpPr>
        <p:spPr>
          <a:xfrm>
            <a:off x="5394960" y="2697480"/>
            <a:ext cx="6293815" cy="256032"/>
          </a:xfrm>
          <a:prstGeom prst="rect">
            <a:avLst/>
          </a:prstGeom>
          <a:noFill/>
          <a:ln/>
        </p:spPr>
        <p:txBody>
          <a:bodyPr wrap="square" lIns="0" tIns="0" rIns="0" bIns="0"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Response — Deadline Held, Findings Flagged</a:t>
            </a:r>
            <a:endParaRPr lang="en-US" sz="1250" dirty="0"/>
          </a:p>
        </p:txBody>
      </p:sp>
      <p:sp>
        <p:nvSpPr>
          <p:cNvPr id="40" name="Shape 38"/>
          <p:cNvSpPr/>
          <p:nvPr/>
        </p:nvSpPr>
        <p:spPr>
          <a:xfrm>
            <a:off x="5394960" y="3026664"/>
            <a:ext cx="256032" cy="256032"/>
          </a:xfrm>
          <a:prstGeom prst="ellipse">
            <a:avLst/>
          </a:prstGeom>
          <a:solidFill>
            <a:srgbClr val="1E2761"/>
          </a:solidFill>
          <a:ln/>
        </p:spPr>
      </p:sp>
      <p:sp>
        <p:nvSpPr>
          <p:cNvPr id="41" name="Text 39"/>
          <p:cNvSpPr txBox="1"/>
          <p:nvPr/>
        </p:nvSpPr>
        <p:spPr>
          <a:xfrm>
            <a:off x="5394960" y="3026664"/>
            <a:ext cx="256032"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42" name="Text 40"/>
          <p:cNvSpPr txBox="1"/>
          <p:nvPr/>
        </p:nvSpPr>
        <p:spPr>
          <a:xfrm>
            <a:off x="5742432" y="2999232"/>
            <a:ext cx="5928055" cy="219456"/>
          </a:xfrm>
          <a:prstGeom prst="rect">
            <a:avLst/>
          </a:prstGeom>
          <a:noFill/>
          <a:ln/>
        </p:spPr>
        <p:txBody>
          <a:bodyPr wrap="square" lIns="0" tIns="0" rIns="0" bIns="0" rtlCol="0" anchor="ctr"/>
          <a:lstStyle/>
          <a:p>
            <a:pPr indent="0" marL="0">
              <a:buNone/>
            </a:pPr>
            <a:r>
              <a:rPr lang="en-US" sz="1000" b="1" dirty="0">
                <a:solidFill>
                  <a:srgbClr val="1E2761"/>
                </a:solidFill>
                <a:latin typeface="Calibri" pitchFamily="34" charset="0"/>
                <a:ea typeface="Calibri" pitchFamily="34" charset="-122"/>
                <a:cs typeface="Calibri" pitchFamily="34" charset="-120"/>
              </a:rPr>
              <a:t>1–2 Sept</a:t>
            </a:r>
            <a:endParaRPr lang="en-US" sz="1000" dirty="0"/>
          </a:p>
        </p:txBody>
      </p:sp>
      <p:sp>
        <p:nvSpPr>
          <p:cNvPr id="43" name="Text 41"/>
          <p:cNvSpPr txBox="1"/>
          <p:nvPr/>
        </p:nvSpPr>
        <p:spPr>
          <a:xfrm>
            <a:off x="5742432" y="3209544"/>
            <a:ext cx="5928055" cy="320040"/>
          </a:xfrm>
          <a:prstGeom prst="rect">
            <a:avLst/>
          </a:prstGeom>
          <a:noFill/>
          <a:ln/>
        </p:spPr>
        <p:txBody>
          <a:bodyPr wrap="square" lIns="0" tIns="0" rIns="0" bIns="0" rtlCol="0" anchor="ctr"/>
          <a:lstStyle/>
          <a:p>
            <a:pPr indent="0" marL="0">
              <a:lnSpc>
                <a:spcPct val="115000"/>
              </a:lnSpc>
              <a:buNone/>
            </a:pPr>
            <a:r>
              <a:rPr lang="en-US" sz="950" dirty="0">
                <a:solidFill>
                  <a:srgbClr val="5B6B8C"/>
                </a:solidFill>
                <a:latin typeface="Calibri" pitchFamily="34" charset="0"/>
                <a:ea typeface="Calibri" pitchFamily="34" charset="-122"/>
                <a:cs typeface="Calibri" pitchFamily="34" charset="-120"/>
              </a:rPr>
              <a:t>Asked Daljeet directly for an alternate contact — none existed. Work split into blockers vs. non-blockers.</a:t>
            </a:r>
            <a:endParaRPr lang="en-US" sz="950" dirty="0"/>
          </a:p>
        </p:txBody>
      </p:sp>
      <p:sp>
        <p:nvSpPr>
          <p:cNvPr id="44" name="Shape 42"/>
          <p:cNvSpPr/>
          <p:nvPr/>
        </p:nvSpPr>
        <p:spPr>
          <a:xfrm>
            <a:off x="5394960" y="3639312"/>
            <a:ext cx="256032" cy="256032"/>
          </a:xfrm>
          <a:prstGeom prst="ellipse">
            <a:avLst/>
          </a:prstGeom>
          <a:solidFill>
            <a:srgbClr val="1E2761"/>
          </a:solidFill>
          <a:ln/>
        </p:spPr>
      </p:sp>
      <p:sp>
        <p:nvSpPr>
          <p:cNvPr id="45" name="Text 43"/>
          <p:cNvSpPr txBox="1"/>
          <p:nvPr/>
        </p:nvSpPr>
        <p:spPr>
          <a:xfrm>
            <a:off x="5394960" y="3639312"/>
            <a:ext cx="256032"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46" name="Text 44"/>
          <p:cNvSpPr txBox="1"/>
          <p:nvPr/>
        </p:nvSpPr>
        <p:spPr>
          <a:xfrm>
            <a:off x="5742432" y="3611880"/>
            <a:ext cx="5928055" cy="219456"/>
          </a:xfrm>
          <a:prstGeom prst="rect">
            <a:avLst/>
          </a:prstGeom>
          <a:noFill/>
          <a:ln/>
        </p:spPr>
        <p:txBody>
          <a:bodyPr wrap="square" lIns="0" tIns="0" rIns="0" bIns="0" rtlCol="0" anchor="ctr"/>
          <a:lstStyle/>
          <a:p>
            <a:pPr indent="0" marL="0">
              <a:buNone/>
            </a:pPr>
            <a:r>
              <a:rPr lang="en-US" sz="1000" b="1" dirty="0">
                <a:solidFill>
                  <a:srgbClr val="1E2761"/>
                </a:solidFill>
                <a:latin typeface="Calibri" pitchFamily="34" charset="0"/>
                <a:ea typeface="Calibri" pitchFamily="34" charset="-122"/>
                <a:cs typeface="Calibri" pitchFamily="34" charset="-120"/>
              </a:rPr>
              <a:t>Through 15 Sept</a:t>
            </a:r>
            <a:endParaRPr lang="en-US" sz="1000" dirty="0"/>
          </a:p>
        </p:txBody>
      </p:sp>
      <p:sp>
        <p:nvSpPr>
          <p:cNvPr id="47" name="Text 45"/>
          <p:cNvSpPr txBox="1"/>
          <p:nvPr/>
        </p:nvSpPr>
        <p:spPr>
          <a:xfrm>
            <a:off x="5742432" y="3822192"/>
            <a:ext cx="5928055" cy="320040"/>
          </a:xfrm>
          <a:prstGeom prst="rect">
            <a:avLst/>
          </a:prstGeom>
          <a:noFill/>
          <a:ln/>
        </p:spPr>
        <p:txBody>
          <a:bodyPr wrap="square" lIns="0" tIns="0" rIns="0" bIns="0" rtlCol="0" anchor="ctr"/>
          <a:lstStyle/>
          <a:p>
            <a:pPr indent="0" marL="0">
              <a:lnSpc>
                <a:spcPct val="115000"/>
              </a:lnSpc>
              <a:buNone/>
            </a:pPr>
            <a:r>
              <a:rPr lang="en-US" sz="950" dirty="0">
                <a:solidFill>
                  <a:srgbClr val="5B6B8C"/>
                </a:solidFill>
                <a:latin typeface="Calibri" pitchFamily="34" charset="0"/>
                <a:ea typeface="Calibri" pitchFamily="34" charset="-122"/>
                <a:cs typeface="Calibri" pitchFamily="34" charset="-120"/>
              </a:rPr>
              <a:t>Blockers (3.2, 4.4) proceed on RHP/RoC/press sources with conservative assumptions, each finding individually flagged “provisional.” Deadline unchanged.</a:t>
            </a:r>
            <a:endParaRPr lang="en-US" sz="950" dirty="0"/>
          </a:p>
        </p:txBody>
      </p:sp>
      <p:sp>
        <p:nvSpPr>
          <p:cNvPr id="48" name="Shape 46"/>
          <p:cNvSpPr/>
          <p:nvPr/>
        </p:nvSpPr>
        <p:spPr>
          <a:xfrm>
            <a:off x="5394960" y="4251960"/>
            <a:ext cx="256032" cy="256032"/>
          </a:xfrm>
          <a:prstGeom prst="ellipse">
            <a:avLst/>
          </a:prstGeom>
          <a:solidFill>
            <a:srgbClr val="1E2761"/>
          </a:solidFill>
          <a:ln/>
        </p:spPr>
      </p:sp>
      <p:sp>
        <p:nvSpPr>
          <p:cNvPr id="49" name="Text 47"/>
          <p:cNvSpPr txBox="1"/>
          <p:nvPr/>
        </p:nvSpPr>
        <p:spPr>
          <a:xfrm>
            <a:off x="5394960" y="4251960"/>
            <a:ext cx="256032"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50" name="Text 48"/>
          <p:cNvSpPr txBox="1"/>
          <p:nvPr/>
        </p:nvSpPr>
        <p:spPr>
          <a:xfrm>
            <a:off x="5742432" y="4224528"/>
            <a:ext cx="5928055" cy="219456"/>
          </a:xfrm>
          <a:prstGeom prst="rect">
            <a:avLst/>
          </a:prstGeom>
          <a:noFill/>
          <a:ln/>
        </p:spPr>
        <p:txBody>
          <a:bodyPr wrap="square" lIns="0" tIns="0" rIns="0" bIns="0" rtlCol="0" anchor="ctr"/>
          <a:lstStyle/>
          <a:p>
            <a:pPr indent="0" marL="0">
              <a:buNone/>
            </a:pPr>
            <a:r>
              <a:rPr lang="en-US" sz="1000" b="1" dirty="0">
                <a:solidFill>
                  <a:srgbClr val="1E2761"/>
                </a:solidFill>
                <a:latin typeface="Calibri" pitchFamily="34" charset="0"/>
                <a:ea typeface="Calibri" pitchFamily="34" charset="-122"/>
                <a:cs typeface="Calibri" pitchFamily="34" charset="-120"/>
              </a:rPr>
              <a:t>16 Sept</a:t>
            </a:r>
            <a:endParaRPr lang="en-US" sz="1000" dirty="0"/>
          </a:p>
        </p:txBody>
      </p:sp>
      <p:sp>
        <p:nvSpPr>
          <p:cNvPr id="51" name="Text 49"/>
          <p:cNvSpPr txBox="1"/>
          <p:nvPr/>
        </p:nvSpPr>
        <p:spPr>
          <a:xfrm>
            <a:off x="5742432" y="4434840"/>
            <a:ext cx="5928055" cy="320040"/>
          </a:xfrm>
          <a:prstGeom prst="rect">
            <a:avLst/>
          </a:prstGeom>
          <a:noFill/>
          <a:ln/>
        </p:spPr>
        <p:txBody>
          <a:bodyPr wrap="square" lIns="0" tIns="0" rIns="0" bIns="0" rtlCol="0" anchor="ctr"/>
          <a:lstStyle/>
          <a:p>
            <a:pPr indent="0" marL="0">
              <a:lnSpc>
                <a:spcPct val="115000"/>
              </a:lnSpc>
              <a:buNone/>
            </a:pPr>
            <a:r>
              <a:rPr lang="en-US" sz="950" dirty="0">
                <a:solidFill>
                  <a:srgbClr val="5B6B8C"/>
                </a:solidFill>
                <a:latin typeface="Calibri" pitchFamily="34" charset="0"/>
                <a:ea typeface="Calibri" pitchFamily="34" charset="-122"/>
                <a:cs typeface="Calibri" pitchFamily="34" charset="-120"/>
              </a:rPr>
              <a:t>Validation call with Daljeet on the flagged items only.</a:t>
            </a:r>
            <a:endParaRPr lang="en-US" sz="950" dirty="0"/>
          </a:p>
        </p:txBody>
      </p:sp>
      <p:sp>
        <p:nvSpPr>
          <p:cNvPr id="52" name="Shape 50"/>
          <p:cNvSpPr/>
          <p:nvPr/>
        </p:nvSpPr>
        <p:spPr>
          <a:xfrm>
            <a:off x="5394960" y="4864608"/>
            <a:ext cx="256032" cy="256032"/>
          </a:xfrm>
          <a:prstGeom prst="ellipse">
            <a:avLst/>
          </a:prstGeom>
          <a:solidFill>
            <a:srgbClr val="1E2761"/>
          </a:solidFill>
          <a:ln/>
        </p:spPr>
      </p:sp>
      <p:sp>
        <p:nvSpPr>
          <p:cNvPr id="53" name="Text 51"/>
          <p:cNvSpPr txBox="1"/>
          <p:nvPr/>
        </p:nvSpPr>
        <p:spPr>
          <a:xfrm>
            <a:off x="5394960" y="4864608"/>
            <a:ext cx="256032"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54" name="Text 52"/>
          <p:cNvSpPr txBox="1"/>
          <p:nvPr/>
        </p:nvSpPr>
        <p:spPr>
          <a:xfrm>
            <a:off x="5742432" y="4837176"/>
            <a:ext cx="5928055" cy="219456"/>
          </a:xfrm>
          <a:prstGeom prst="rect">
            <a:avLst/>
          </a:prstGeom>
          <a:noFill/>
          <a:ln/>
        </p:spPr>
        <p:txBody>
          <a:bodyPr wrap="square" lIns="0" tIns="0" rIns="0" bIns="0" rtlCol="0" anchor="ctr"/>
          <a:lstStyle/>
          <a:p>
            <a:pPr indent="0" marL="0">
              <a:buNone/>
            </a:pPr>
            <a:r>
              <a:rPr lang="en-US" sz="1000" b="1" dirty="0">
                <a:solidFill>
                  <a:srgbClr val="1E2761"/>
                </a:solidFill>
                <a:latin typeface="Calibri" pitchFamily="34" charset="0"/>
                <a:ea typeface="Calibri" pitchFamily="34" charset="-122"/>
                <a:cs typeface="Calibri" pitchFamily="34" charset="-120"/>
              </a:rPr>
              <a:t>17–18 Sept</a:t>
            </a:r>
            <a:endParaRPr lang="en-US" sz="1000" dirty="0"/>
          </a:p>
        </p:txBody>
      </p:sp>
      <p:sp>
        <p:nvSpPr>
          <p:cNvPr id="55" name="Text 53"/>
          <p:cNvSpPr txBox="1"/>
          <p:nvPr/>
        </p:nvSpPr>
        <p:spPr>
          <a:xfrm>
            <a:off x="5742432" y="5047488"/>
            <a:ext cx="5928055" cy="320040"/>
          </a:xfrm>
          <a:prstGeom prst="rect">
            <a:avLst/>
          </a:prstGeom>
          <a:noFill/>
          <a:ln/>
        </p:spPr>
        <p:txBody>
          <a:bodyPr wrap="square" lIns="0" tIns="0" rIns="0" bIns="0" rtlCol="0" anchor="ctr"/>
          <a:lstStyle/>
          <a:p>
            <a:pPr indent="0" marL="0">
              <a:lnSpc>
                <a:spcPct val="115000"/>
              </a:lnSpc>
              <a:buNone/>
            </a:pPr>
            <a:r>
              <a:rPr lang="en-US" sz="950" dirty="0">
                <a:solidFill>
                  <a:srgbClr val="5B6B8C"/>
                </a:solidFill>
                <a:latin typeface="Calibri" pitchFamily="34" charset="0"/>
                <a:ea typeface="Calibri" pitchFamily="34" charset="-122"/>
                <a:cs typeface="Calibri" pitchFamily="34" charset="-120"/>
              </a:rPr>
              <a:t>Short addendum updates only the items that changed — the report is not redone.</a:t>
            </a:r>
            <a:endParaRPr lang="en-US" sz="950" dirty="0"/>
          </a:p>
        </p:txBody>
      </p:sp>
      <p:sp>
        <p:nvSpPr>
          <p:cNvPr id="56" name="Text 54"/>
          <p:cNvSpPr txBox="1"/>
          <p:nvPr/>
        </p:nvSpPr>
        <p:spPr>
          <a:xfrm>
            <a:off x="502920" y="6492240"/>
            <a:ext cx="11185855" cy="274320"/>
          </a:xfrm>
          <a:prstGeom prst="rect">
            <a:avLst/>
          </a:prstGeom>
          <a:noFill/>
          <a:ln/>
        </p:spPr>
        <p:txBody>
          <a:bodyPr wrap="square" lIns="0" tIns="0" rIns="0" bIns="0" rtlCol="0" anchor="ctr"/>
          <a:lstStyle/>
          <a:p>
            <a:pPr indent="0" marL="0">
              <a:buNone/>
            </a:pPr>
            <a:r>
              <a:rPr lang="en-US" sz="900" dirty="0">
                <a:solidFill>
                  <a:srgbClr val="5B6B8C"/>
                </a:solidFill>
                <a:latin typeface="Calibri" pitchFamily="34" charset="0"/>
                <a:ea typeface="Calibri" pitchFamily="34" charset="-122"/>
                <a:cs typeface="Calibri" pitchFamily="34" charset="-120"/>
              </a:rPr>
              <a:t>Owner: Chandni Choudhary (Project Manager) — scheduling, CPM, and the M5 change-scenario response.</a:t>
            </a:r>
            <a:endParaRPr lang="en-US" sz="900" dirty="0"/>
          </a:p>
        </p:txBody>
      </p:sp>
      <p:sp>
        <p:nvSpPr>
          <p:cNvPr id="57" name="Text 55"/>
          <p:cNvSpPr txBox="1"/>
          <p:nvPr/>
        </p:nvSpPr>
        <p:spPr>
          <a:xfrm>
            <a:off x="8945575" y="6492240"/>
            <a:ext cx="2743200" cy="274320"/>
          </a:xfrm>
          <a:prstGeom prst="rect">
            <a:avLst/>
          </a:prstGeom>
          <a:noFill/>
          <a:ln/>
        </p:spPr>
        <p:txBody>
          <a:bodyPr wrap="square" lIns="0" tIns="0" rIns="0" bIns="0" rtlCol="0" anchor="ctr"/>
          <a:lstStyle/>
          <a:p>
            <a:pPr algn="r" indent="0" marL="0">
              <a:buNone/>
            </a:pPr>
            <a:r>
              <a:rPr lang="en-US" sz="900" dirty="0">
                <a:solidFill>
                  <a:srgbClr val="5B6B8C"/>
                </a:solidFill>
                <a:latin typeface="Calibri" pitchFamily="34" charset="0"/>
                <a:ea typeface="Calibri" pitchFamily="34" charset="-122"/>
                <a:cs typeface="Calibri" pitchFamily="34" charset="-120"/>
              </a:rPr>
              <a:t>M6 — Final PMO Review</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57200"/>
            <a:ext cx="457200" cy="457200"/>
          </a:xfrm>
          <a:prstGeom prst="ellipse">
            <a:avLst/>
          </a:prstGeom>
          <a:solidFill>
            <a:srgbClr val="1E2761"/>
          </a:solidFill>
          <a:ln/>
        </p:spPr>
      </p:sp>
      <p:sp>
        <p:nvSpPr>
          <p:cNvPr id="3" name="Text 1"/>
          <p:cNvSpPr txBox="1"/>
          <p:nvPr/>
        </p:nvSpPr>
        <p:spPr>
          <a:xfrm>
            <a:off x="502920" y="4572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4" name="Text 2"/>
          <p:cNvSpPr txBox="1"/>
          <p:nvPr/>
        </p:nvSpPr>
        <p:spPr>
          <a:xfrm>
            <a:off x="1124712" y="384048"/>
            <a:ext cx="8229600" cy="274320"/>
          </a:xfrm>
          <a:prstGeom prst="rect">
            <a:avLst/>
          </a:prstGeom>
          <a:noFill/>
          <a:ln/>
        </p:spPr>
        <p:txBody>
          <a:bodyPr wrap="square" lIns="0" tIns="0" rIns="0" bIns="0" rtlCol="0" anchor="ctr"/>
          <a:lstStyle/>
          <a:p>
            <a:pPr indent="0" marL="0">
              <a:buNone/>
            </a:pPr>
            <a:r>
              <a:rPr lang="en-US" sz="1200" b="1" spc="150" kern="0" dirty="0">
                <a:solidFill>
                  <a:srgbClr val="5B6B8C"/>
                </a:solidFill>
                <a:latin typeface="Calibri" pitchFamily="34" charset="0"/>
                <a:ea typeface="Calibri" pitchFamily="34" charset="-122"/>
                <a:cs typeface="Calibri" pitchFamily="34" charset="-120"/>
              </a:rPr>
              <a:t>CLOSURE</a:t>
            </a:r>
            <a:endParaRPr lang="en-US" sz="1200" dirty="0"/>
          </a:p>
        </p:txBody>
      </p:sp>
      <p:sp>
        <p:nvSpPr>
          <p:cNvPr id="5" name="Text 3"/>
          <p:cNvSpPr txBox="1"/>
          <p:nvPr/>
        </p:nvSpPr>
        <p:spPr>
          <a:xfrm>
            <a:off x="1124712" y="621792"/>
            <a:ext cx="10564063" cy="566928"/>
          </a:xfrm>
          <a:prstGeom prst="rect">
            <a:avLst/>
          </a:prstGeom>
          <a:noFill/>
          <a:ln/>
        </p:spPr>
        <p:txBody>
          <a:bodyPr wrap="square" lIns="0" tIns="0" rIns="0" bIns="0" rtlCol="0" anchor="ctr"/>
          <a:lstStyle/>
          <a:p>
            <a:pPr indent="0" marL="0">
              <a:buNone/>
            </a:pPr>
            <a:r>
              <a:rPr lang="en-US" sz="2700" b="1" dirty="0">
                <a:solidFill>
                  <a:srgbClr val="1E2761"/>
                </a:solidFill>
                <a:latin typeface="Cambria" pitchFamily="34" charset="0"/>
                <a:ea typeface="Cambria" pitchFamily="34" charset="-122"/>
                <a:cs typeface="Cambria" pitchFamily="34" charset="-120"/>
              </a:rPr>
              <a:t>Final Recommendation, Lessons Learned &amp; Closure</a:t>
            </a:r>
            <a:endParaRPr lang="en-US" sz="2700" dirty="0"/>
          </a:p>
        </p:txBody>
      </p:sp>
      <p:sp>
        <p:nvSpPr>
          <p:cNvPr id="6" name="Shape 4"/>
          <p:cNvSpPr/>
          <p:nvPr/>
        </p:nvSpPr>
        <p:spPr>
          <a:xfrm>
            <a:off x="502920" y="1417320"/>
            <a:ext cx="3545738" cy="4160520"/>
          </a:xfrm>
          <a:prstGeom prst="roundRect">
            <a:avLst>
              <a:gd name="adj" fmla="val 2063"/>
            </a:avLst>
          </a:prstGeom>
          <a:solidFill>
            <a:srgbClr val="CADCFC"/>
          </a:solidFill>
          <a:ln/>
          <a:effectLst>
            <a:outerShdw sx="100000" sy="100000" kx="0" ky="0" algn="bl" rotWithShape="0" blurRad="76200" dist="25400" dir="5400000">
              <a:srgbClr val="222222">
                <a:alpha val="12000"/>
              </a:srgbClr>
            </a:outerShdw>
          </a:effectLst>
        </p:spPr>
      </p:sp>
      <p:sp>
        <p:nvSpPr>
          <p:cNvPr id="7" name="Text 5"/>
          <p:cNvSpPr txBox="1"/>
          <p:nvPr/>
        </p:nvSpPr>
        <p:spPr>
          <a:xfrm>
            <a:off x="704088" y="1600200"/>
            <a:ext cx="3143402" cy="274320"/>
          </a:xfrm>
          <a:prstGeom prst="rect">
            <a:avLst/>
          </a:prstGeom>
          <a:noFill/>
          <a:ln/>
        </p:spPr>
        <p:txBody>
          <a:bodyPr wrap="square" lIns="0" tIns="0" rIns="0" bIns="0" rtlCol="0" anchor="ctr"/>
          <a:lstStyle/>
          <a:p>
            <a:pPr indent="0" marL="0">
              <a:buNone/>
            </a:pPr>
            <a:r>
              <a:rPr lang="en-US" sz="1100" b="1" spc="100" kern="0" dirty="0">
                <a:solidFill>
                  <a:srgbClr val="1E2761"/>
                </a:solidFill>
                <a:latin typeface="Calibri" pitchFamily="34" charset="0"/>
                <a:ea typeface="Calibri" pitchFamily="34" charset="-122"/>
                <a:cs typeface="Calibri" pitchFamily="34" charset="-120"/>
              </a:rPr>
              <a:t>FINAL RECOMMENDATION</a:t>
            </a:r>
            <a:endParaRPr lang="en-US" sz="1100" dirty="0"/>
          </a:p>
        </p:txBody>
      </p:sp>
      <p:sp>
        <p:nvSpPr>
          <p:cNvPr id="8" name="Text 6"/>
          <p:cNvSpPr txBox="1"/>
          <p:nvPr/>
        </p:nvSpPr>
        <p:spPr>
          <a:xfrm>
            <a:off x="704088" y="1920240"/>
            <a:ext cx="3143402" cy="1188720"/>
          </a:xfrm>
          <a:prstGeom prst="rect">
            <a:avLst/>
          </a:prstGeom>
          <a:noFill/>
          <a:ln/>
        </p:spPr>
        <p:txBody>
          <a:bodyPr wrap="square" lIns="0" tIns="0" rIns="0" bIns="0" rtlCol="0" anchor="ctr"/>
          <a:lstStyle/>
          <a:p>
            <a:pPr indent="0" marL="0">
              <a:lnSpc>
                <a:spcPct val="125000"/>
              </a:lnSpc>
              <a:buNone/>
            </a:pPr>
            <a:r>
              <a:rPr lang="en-US" sz="1050" dirty="0">
                <a:solidFill>
                  <a:srgbClr val="1B1F33"/>
                </a:solidFill>
                <a:latin typeface="Calibri" pitchFamily="34" charset="0"/>
                <a:ea typeface="Calibri" pitchFamily="34" charset="-122"/>
                <a:cs typeface="Calibri" pitchFamily="34" charset="-120"/>
              </a:rPr>
              <a:t>Sequence the NCR-hub rollout Jaipur → Lucknow → Punjab/Mohali → Himachal Pradesh, prioritising network-density gains in existing markets before the greenfield HP entry.</a:t>
            </a:r>
            <a:endParaRPr lang="en-US" sz="1050" dirty="0"/>
          </a:p>
        </p:txBody>
      </p:sp>
      <p:sp>
        <p:nvSpPr>
          <p:cNvPr id="9" name="Text 7"/>
          <p:cNvSpPr txBox="1"/>
          <p:nvPr/>
        </p:nvSpPr>
        <p:spPr>
          <a:xfrm>
            <a:off x="704088" y="3200400"/>
            <a:ext cx="3143402" cy="914400"/>
          </a:xfrm>
          <a:prstGeom prst="rect">
            <a:avLst/>
          </a:prstGeom>
          <a:noFill/>
          <a:ln/>
        </p:spPr>
        <p:txBody>
          <a:bodyPr wrap="square" lIns="0" tIns="0" rIns="0" bIns="0" rtlCol="0" anchor="ctr"/>
          <a:lstStyle/>
          <a:p>
            <a:pPr indent="0" marL="0">
              <a:lnSpc>
                <a:spcPct val="125000"/>
              </a:lnSpc>
              <a:buNone/>
            </a:pPr>
            <a:r>
              <a:rPr lang="en-US" sz="1050" dirty="0">
                <a:solidFill>
                  <a:srgbClr val="1B1F33"/>
                </a:solidFill>
                <a:latin typeface="Calibri" pitchFamily="34" charset="0"/>
                <a:ea typeface="Calibri" pitchFamily="34" charset="-122"/>
                <a:cs typeface="Calibri" pitchFamily="34" charset="-120"/>
              </a:rPr>
              <a:t>Time it against IKEA's 2026/2028 NCR entries, and treat the 20–25 store figure as a planning estimate pending Wakefit's own confirmation.</a:t>
            </a:r>
            <a:endParaRPr lang="en-US" sz="1050" dirty="0"/>
          </a:p>
        </p:txBody>
      </p:sp>
      <p:sp>
        <p:nvSpPr>
          <p:cNvPr id="10" name="Shape 8"/>
          <p:cNvSpPr/>
          <p:nvPr/>
        </p:nvSpPr>
        <p:spPr>
          <a:xfrm>
            <a:off x="4322978" y="1417320"/>
            <a:ext cx="3545738" cy="4160520"/>
          </a:xfrm>
          <a:prstGeom prst="roundRect">
            <a:avLst>
              <a:gd name="adj" fmla="val 2063"/>
            </a:avLst>
          </a:prstGeom>
          <a:solidFill>
            <a:srgbClr val="EEF3FC"/>
          </a:solidFill>
          <a:ln/>
          <a:effectLst>
            <a:outerShdw sx="100000" sy="100000" kx="0" ky="0" algn="bl" rotWithShape="0" blurRad="76200" dist="25400" dir="5400000">
              <a:srgbClr val="222222">
                <a:alpha val="12000"/>
              </a:srgbClr>
            </a:outerShdw>
          </a:effectLst>
        </p:spPr>
      </p:sp>
      <p:sp>
        <p:nvSpPr>
          <p:cNvPr id="11" name="Text 9"/>
          <p:cNvSpPr txBox="1"/>
          <p:nvPr/>
        </p:nvSpPr>
        <p:spPr>
          <a:xfrm>
            <a:off x="4524146" y="1600200"/>
            <a:ext cx="3143402" cy="274320"/>
          </a:xfrm>
          <a:prstGeom prst="rect">
            <a:avLst/>
          </a:prstGeom>
          <a:noFill/>
          <a:ln/>
        </p:spPr>
        <p:txBody>
          <a:bodyPr wrap="square" lIns="0" tIns="0" rIns="0" bIns="0" rtlCol="0" anchor="ctr"/>
          <a:lstStyle/>
          <a:p>
            <a:pPr indent="0" marL="0">
              <a:buNone/>
            </a:pPr>
            <a:r>
              <a:rPr lang="en-US" sz="1100" b="1" spc="100" kern="0" dirty="0">
                <a:solidFill>
                  <a:srgbClr val="1E2761"/>
                </a:solidFill>
                <a:latin typeface="Calibri" pitchFamily="34" charset="0"/>
                <a:ea typeface="Calibri" pitchFamily="34" charset="-122"/>
                <a:cs typeface="Calibri" pitchFamily="34" charset="-120"/>
              </a:rPr>
              <a:t>LESSONS LEARNED</a:t>
            </a:r>
            <a:endParaRPr lang="en-US" sz="1100" dirty="0"/>
          </a:p>
        </p:txBody>
      </p:sp>
      <p:sp>
        <p:nvSpPr>
          <p:cNvPr id="12" name="Text 10"/>
          <p:cNvSpPr txBox="1"/>
          <p:nvPr/>
        </p:nvSpPr>
        <p:spPr>
          <a:xfrm>
            <a:off x="4524146" y="1920240"/>
            <a:ext cx="3143402" cy="1097280"/>
          </a:xfrm>
          <a:prstGeom prst="rect">
            <a:avLst/>
          </a:prstGeom>
          <a:noFill/>
          <a:ln/>
        </p:spPr>
        <p:txBody>
          <a:bodyPr wrap="square" lIns="0" tIns="0" rIns="0" bIns="0" rtlCol="0" anchor="ctr"/>
          <a:lstStyle/>
          <a:p>
            <a:pPr indent="0" marL="0">
              <a:lnSpc>
                <a:spcPct val="125000"/>
              </a:lnSpc>
              <a:buNone/>
            </a:pPr>
            <a:r>
              <a:rPr lang="en-US" sz="1050" dirty="0">
                <a:solidFill>
                  <a:srgbClr val="1B1F33"/>
                </a:solidFill>
                <a:latin typeface="Calibri" pitchFamily="34" charset="0"/>
                <a:ea typeface="Calibri" pitchFamily="34" charset="-122"/>
                <a:cs typeface="Calibri" pitchFamily="34" charset="-120"/>
              </a:rPr>
              <a:t>A single named stakeholder as the only validation channel is itself a structural risk — R-06 confirmed it in practice, not just on paper.</a:t>
            </a:r>
            <a:endParaRPr lang="en-US" sz="1050" dirty="0"/>
          </a:p>
        </p:txBody>
      </p:sp>
      <p:sp>
        <p:nvSpPr>
          <p:cNvPr id="13" name="Text 11"/>
          <p:cNvSpPr txBox="1"/>
          <p:nvPr/>
        </p:nvSpPr>
        <p:spPr>
          <a:xfrm>
            <a:off x="4524146" y="3063240"/>
            <a:ext cx="3143402" cy="1371600"/>
          </a:xfrm>
          <a:prstGeom prst="rect">
            <a:avLst/>
          </a:prstGeom>
          <a:noFill/>
          <a:ln/>
        </p:spPr>
        <p:txBody>
          <a:bodyPr wrap="square" lIns="0" tIns="0" rIns="0" bIns="0" rtlCol="0" anchor="ctr"/>
          <a:lstStyle/>
          <a:p>
            <a:pPr indent="0" marL="0">
              <a:lnSpc>
                <a:spcPct val="125000"/>
              </a:lnSpc>
              <a:buNone/>
            </a:pPr>
            <a:r>
              <a:rPr lang="en-US" sz="1050" dirty="0">
                <a:solidFill>
                  <a:srgbClr val="1B1F33"/>
                </a:solidFill>
                <a:latin typeface="Calibri" pitchFamily="34" charset="0"/>
                <a:ea typeface="Calibri" pitchFamily="34" charset="-122"/>
                <a:cs typeface="Calibri" pitchFamily="34" charset="-120"/>
              </a:rPr>
              <a:t>Future charters for this kind of engagement should name a secondary contact at kickoff, and flag critical-path activities that depend on external input before any disruption occurs.</a:t>
            </a:r>
            <a:endParaRPr lang="en-US" sz="1050" dirty="0"/>
          </a:p>
        </p:txBody>
      </p:sp>
      <p:sp>
        <p:nvSpPr>
          <p:cNvPr id="14" name="Shape 12"/>
          <p:cNvSpPr/>
          <p:nvPr/>
        </p:nvSpPr>
        <p:spPr>
          <a:xfrm>
            <a:off x="8143037" y="1417320"/>
            <a:ext cx="3545738" cy="1965960"/>
          </a:xfrm>
          <a:prstGeom prst="roundRect">
            <a:avLst>
              <a:gd name="adj" fmla="val 3721"/>
            </a:avLst>
          </a:prstGeom>
          <a:solidFill>
            <a:srgbClr val="1E2761"/>
          </a:solidFill>
          <a:ln/>
          <a:effectLst>
            <a:outerShdw sx="100000" sy="100000" kx="0" ky="0" algn="bl" rotWithShape="0" blurRad="76200" dist="25400" dir="5400000">
              <a:srgbClr val="222222">
                <a:alpha val="12000"/>
              </a:srgbClr>
            </a:outerShdw>
          </a:effectLst>
        </p:spPr>
      </p:sp>
      <p:sp>
        <p:nvSpPr>
          <p:cNvPr id="15" name="Text 13"/>
          <p:cNvSpPr txBox="1"/>
          <p:nvPr/>
        </p:nvSpPr>
        <p:spPr>
          <a:xfrm>
            <a:off x="8344205" y="1600200"/>
            <a:ext cx="3143402" cy="274320"/>
          </a:xfrm>
          <a:prstGeom prst="rect">
            <a:avLst/>
          </a:prstGeom>
          <a:noFill/>
          <a:ln/>
        </p:spPr>
        <p:txBody>
          <a:bodyPr wrap="square" lIns="0" tIns="0" rIns="0" bIns="0" rtlCol="0" anchor="ctr"/>
          <a:lstStyle/>
          <a:p>
            <a:pPr indent="0" marL="0">
              <a:buNone/>
            </a:pPr>
            <a:r>
              <a:rPr lang="en-US" sz="1100" b="1" spc="100" kern="0" dirty="0">
                <a:solidFill>
                  <a:srgbClr val="CADCFC"/>
                </a:solidFill>
                <a:latin typeface="Calibri" pitchFamily="34" charset="0"/>
                <a:ea typeface="Calibri" pitchFamily="34" charset="-122"/>
                <a:cs typeface="Calibri" pitchFamily="34" charset="-120"/>
              </a:rPr>
              <a:t>PROJECT CLOSURE</a:t>
            </a:r>
            <a:endParaRPr lang="en-US" sz="1100" dirty="0"/>
          </a:p>
        </p:txBody>
      </p:sp>
      <p:sp>
        <p:nvSpPr>
          <p:cNvPr id="16" name="Text 14"/>
          <p:cNvSpPr txBox="1"/>
          <p:nvPr/>
        </p:nvSpPr>
        <p:spPr>
          <a:xfrm>
            <a:off x="8344205" y="1920240"/>
            <a:ext cx="3143402" cy="1371600"/>
          </a:xfrm>
          <a:prstGeom prst="rect">
            <a:avLst/>
          </a:prstGeom>
          <a:noFill/>
          <a:ln/>
        </p:spPr>
        <p:txBody>
          <a:bodyPr wrap="square" lIns="0" tIns="0" rIns="0" bIns="0" rtlCol="0" anchor="ctr"/>
          <a:lstStyle/>
          <a:p>
            <a:pPr indent="0" marL="0">
              <a:lnSpc>
                <a:spcPct val="122000"/>
              </a:lnSpc>
              <a:buNone/>
            </a:pPr>
            <a:r>
              <a:rPr lang="en-US" sz="1000" dirty="0">
                <a:solidFill>
                  <a:srgbClr val="CADCFC"/>
                </a:solidFill>
                <a:latin typeface="Calibri" pitchFamily="34" charset="0"/>
                <a:ea typeface="Calibri" pitchFamily="34" charset="-122"/>
                <a:cs typeface="Calibri" pitchFamily="34" charset="-120"/>
              </a:rPr>
              <a:t>All M1–M5 deliverables complete. R-06 addendum (if needed) closes 17–18 Sept, after the 16 Sept validation call — outside this project's own deadline.</a:t>
            </a:r>
            <a:endParaRPr lang="en-US" sz="1000" dirty="0"/>
          </a:p>
        </p:txBody>
      </p:sp>
      <p:sp>
        <p:nvSpPr>
          <p:cNvPr id="17" name="Shape 15"/>
          <p:cNvSpPr/>
          <p:nvPr/>
        </p:nvSpPr>
        <p:spPr>
          <a:xfrm>
            <a:off x="8143037" y="3520440"/>
            <a:ext cx="3545738" cy="2057400"/>
          </a:xfrm>
          <a:prstGeom prst="roundRect">
            <a:avLst>
              <a:gd name="adj" fmla="val 3556"/>
            </a:avLst>
          </a:prstGeom>
          <a:solidFill>
            <a:srgbClr val="EEF3FC"/>
          </a:solidFill>
          <a:ln/>
          <a:effectLst>
            <a:outerShdw sx="100000" sy="100000" kx="0" ky="0" algn="bl" rotWithShape="0" blurRad="76200" dist="25400" dir="5400000">
              <a:srgbClr val="222222">
                <a:alpha val="12000"/>
              </a:srgbClr>
            </a:outerShdw>
          </a:effectLst>
        </p:spPr>
      </p:sp>
      <p:sp>
        <p:nvSpPr>
          <p:cNvPr id="18" name="Text 16"/>
          <p:cNvSpPr txBox="1"/>
          <p:nvPr/>
        </p:nvSpPr>
        <p:spPr>
          <a:xfrm>
            <a:off x="8344205" y="3703320"/>
            <a:ext cx="3143402" cy="274320"/>
          </a:xfrm>
          <a:prstGeom prst="rect">
            <a:avLst/>
          </a:prstGeom>
          <a:noFill/>
          <a:ln/>
        </p:spPr>
        <p:txBody>
          <a:bodyPr wrap="square" lIns="0" tIns="0" rIns="0" bIns="0" rtlCol="0" anchor="ctr"/>
          <a:lstStyle/>
          <a:p>
            <a:pPr indent="0" marL="0">
              <a:buNone/>
            </a:pPr>
            <a:r>
              <a:rPr lang="en-US" sz="1100" b="1" spc="100" kern="0" dirty="0">
                <a:solidFill>
                  <a:srgbClr val="1E2761"/>
                </a:solidFill>
                <a:latin typeface="Calibri" pitchFamily="34" charset="0"/>
                <a:ea typeface="Calibri" pitchFamily="34" charset="-122"/>
                <a:cs typeface="Calibri" pitchFamily="34" charset="-120"/>
              </a:rPr>
              <a:t>AI USAGE DECLARATION</a:t>
            </a:r>
            <a:endParaRPr lang="en-US" sz="1100" dirty="0"/>
          </a:p>
        </p:txBody>
      </p:sp>
      <p:sp>
        <p:nvSpPr>
          <p:cNvPr id="19" name="Text 17"/>
          <p:cNvSpPr txBox="1"/>
          <p:nvPr/>
        </p:nvSpPr>
        <p:spPr>
          <a:xfrm>
            <a:off x="8344205" y="4023360"/>
            <a:ext cx="3143402" cy="1463040"/>
          </a:xfrm>
          <a:prstGeom prst="rect">
            <a:avLst/>
          </a:prstGeom>
          <a:noFill/>
          <a:ln/>
        </p:spPr>
        <p:txBody>
          <a:bodyPr wrap="square" lIns="0" tIns="0" rIns="0" bIns="0" rtlCol="0" anchor="ctr"/>
          <a:lstStyle/>
          <a:p>
            <a:pPr indent="0" marL="0">
              <a:lnSpc>
                <a:spcPct val="120000"/>
              </a:lnSpc>
              <a:buNone/>
            </a:pPr>
            <a:r>
              <a:rPr lang="en-US" sz="950" dirty="0">
                <a:solidFill>
                  <a:srgbClr val="5B6B8C"/>
                </a:solidFill>
                <a:latin typeface="Calibri" pitchFamily="34" charset="0"/>
                <a:ea typeface="Calibri" pitchFamily="34" charset="-122"/>
                <a:cs typeface="Calibri" pitchFamily="34" charset="-120"/>
              </a:rPr>
              <a:t>AI tools assisted with document structuring, formatting and synthesis of research already gathered by the team. All data sourcing, financial interpretation, scheduling logic and final decisions were performed and reviewed by the team.</a:t>
            </a:r>
            <a:endParaRPr lang="en-US" sz="950" dirty="0"/>
          </a:p>
        </p:txBody>
      </p:sp>
      <p:sp>
        <p:nvSpPr>
          <p:cNvPr id="20" name="Text 18"/>
          <p:cNvSpPr txBox="1"/>
          <p:nvPr/>
        </p:nvSpPr>
        <p:spPr>
          <a:xfrm>
            <a:off x="502920" y="6492240"/>
            <a:ext cx="11185855" cy="274320"/>
          </a:xfrm>
          <a:prstGeom prst="rect">
            <a:avLst/>
          </a:prstGeom>
          <a:noFill/>
          <a:ln/>
        </p:spPr>
        <p:txBody>
          <a:bodyPr wrap="square" lIns="0" tIns="0" rIns="0" bIns="0" rtlCol="0" anchor="ctr"/>
          <a:lstStyle/>
          <a:p>
            <a:pPr indent="0" marL="0">
              <a:buNone/>
            </a:pPr>
            <a:r>
              <a:rPr lang="en-US" sz="900" dirty="0">
                <a:solidFill>
                  <a:srgbClr val="5B6B8C"/>
                </a:solidFill>
                <a:latin typeface="Calibri" pitchFamily="34" charset="0"/>
                <a:ea typeface="Calibri" pitchFamily="34" charset="-122"/>
                <a:cs typeface="Calibri" pitchFamily="34" charset="-120"/>
              </a:rPr>
              <a:t>Team confirms scope, data sourcing and analysis above; edit the AI Usage Declaration to match your actual submission requirements.</a:t>
            </a:r>
            <a:endParaRPr lang="en-US" sz="900" dirty="0"/>
          </a:p>
        </p:txBody>
      </p:sp>
      <p:sp>
        <p:nvSpPr>
          <p:cNvPr id="21" name="Text 19"/>
          <p:cNvSpPr txBox="1"/>
          <p:nvPr/>
        </p:nvSpPr>
        <p:spPr>
          <a:xfrm>
            <a:off x="8945575" y="6492240"/>
            <a:ext cx="2743200" cy="274320"/>
          </a:xfrm>
          <a:prstGeom prst="rect">
            <a:avLst/>
          </a:prstGeom>
          <a:noFill/>
          <a:ln/>
        </p:spPr>
        <p:txBody>
          <a:bodyPr wrap="square" lIns="0" tIns="0" rIns="0" bIns="0" rtlCol="0" anchor="ctr"/>
          <a:lstStyle/>
          <a:p>
            <a:pPr algn="r" indent="0" marL="0">
              <a:buNone/>
            </a:pPr>
            <a:r>
              <a:rPr lang="en-US" sz="900" dirty="0">
                <a:solidFill>
                  <a:srgbClr val="5B6B8C"/>
                </a:solidFill>
                <a:latin typeface="Calibri" pitchFamily="34" charset="0"/>
                <a:ea typeface="Calibri" pitchFamily="34" charset="-122"/>
                <a:cs typeface="Calibri" pitchFamily="34" charset="-120"/>
              </a:rPr>
              <a:t>M6 — Final PMO Review</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2026-09-09T15:31:59Z</dcterms:created>
  <dcterms:modified xsi:type="dcterms:W3CDTF">2026-09-09T15:31:59Z</dcterms:modified>
</cp:coreProperties>
</file>