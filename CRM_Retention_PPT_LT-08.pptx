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4F"/>
              </a:solidFill>
              <a:effectLst/>
            </c:spPr>
          </c:dPt>
          <c:dPt>
            <c:idx val="1"/>
            <c:bubble3D val="0"/>
            <c:spPr>
              <a:solidFill>
                <a:srgbClr val="4A7FB5"/>
              </a:solidFill>
              <a:effectLst/>
            </c:spPr>
          </c:dPt>
          <c:dPt>
            <c:idx val="2"/>
            <c:bubble3D val="0"/>
            <c:spPr>
              <a:solidFill>
                <a:srgbClr val="D08A2E"/>
              </a:solidFill>
              <a:effectLst/>
            </c:spPr>
          </c:dPt>
          <c:dPt>
            <c:idx val="3"/>
            <c:bubble3D val="0"/>
            <c:spPr>
              <a:solidFill>
                <a:srgbClr val="B0413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Champions</c:v>
                </c:pt>
                <c:pt idx="1">
                  <c:v>Needs Attention</c:v>
                </c:pt>
                <c:pt idx="2">
                  <c:v>At-Risk</c:v>
                </c:pt>
                <c:pt idx="3">
                  <c:v>Lost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</c:v>
                </c:pt>
                <c:pt idx="1">
                  <c:v>8</c:v>
                </c:pt>
                <c:pt idx="2">
                  <c:v>7</c:v>
                </c:pt>
                <c:pt idx="3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Retention Playbook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Sanvi Singh Shudh Shakahari Bhojnalay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Vegetarian Tiffin Service  |  Basant Gaon, Vasant Vihar, New Delhi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623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Team - 08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Chandni Choudhary  |  Shreya Bharara  |  Juhi Varshney  |  Mayank Jain  |  Sonali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PGDM Operations, Fortune Institute of International Business (FIIB)  |  CRM Course Assignment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Business, Fieldwork &amp; Method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776472" cy="4754880"/>
          </a:xfrm>
          <a:prstGeom prst="roundRect">
            <a:avLst>
              <a:gd name="adj" fmla="val 1937"/>
            </a:avLst>
          </a:prstGeom>
          <a:solidFill>
            <a:srgbClr val="F7F8F7"/>
          </a:solidFill>
          <a:ln w="12700">
            <a:solidFill>
              <a:srgbClr val="F7F8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33192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Sanvi Singh Shudh Shakahari Bhojnalay — a pure-vegetarian tiffin service in Basant Gaon, Vasant Vihar, New Delhi. Walk-in, on-demand model; no fixed customer records or subscription plans.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97680" y="1417320"/>
            <a:ext cx="3776472" cy="4754880"/>
          </a:xfrm>
          <a:prstGeom prst="roundRect">
            <a:avLst>
              <a:gd name="adj" fmla="val 1937"/>
            </a:avLst>
          </a:prstGeom>
          <a:solidFill>
            <a:srgbClr val="F7F8F7"/>
          </a:solidFill>
          <a:ln w="12700">
            <a:solidFill>
              <a:srgbClr val="F7F8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6002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Fieldwork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057400"/>
            <a:ext cx="33192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visits (3-6 Sept 2026) across morning, afternoon, evening and dinner windows. Informal conversations with owner/staff and a sample of customers directly — 22 genuine customer records collected.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38160" y="1417320"/>
            <a:ext cx="3776472" cy="4754880"/>
          </a:xfrm>
          <a:prstGeom prst="roundRect">
            <a:avLst>
              <a:gd name="adj" fmla="val 1937"/>
            </a:avLst>
          </a:prstGeom>
          <a:solidFill>
            <a:srgbClr val="F7F8F7"/>
          </a:solidFill>
          <a:ln w="12700">
            <a:solidFill>
              <a:srgbClr val="F7F8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160020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Method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057400"/>
            <a:ext cx="33192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Recency, Frequency, Monetary — each ranked across all 22 customers and split into 5 quintiles (score 1-5). Segment rules aligned to the course's RFM Teaching Workbook (Champions, At-Risk, Lost); the At-Risk rule was adapted (OR logic, threshold 3) since the strict classroom rule returns 0 matches on this smaller real sample.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Sanvi Singh Shudh Shakahari Bhojnalay — CRM Retention Playbook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&amp; At-Risk Calculation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customers analyzed — traceable, stated arithmetic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44805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46320"/>
          <a:ext cx="4480560" cy="13716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</a:rPr>
                        <a:t>Champions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</a:rPr>
                        <a:t>R≥4,F≥4,M≥4 (taught)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</a:rPr>
                        <a:t>Needs Attn.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</a:rPr>
                        <a:t>Everyone else (taught)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</a:rPr>
                        <a:t>At-Risk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</a:rPr>
                        <a:t>R≤2 AND (F≥3 OR M≥3), adapted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</a:rPr>
                        <a:t>Lost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</a:rPr>
                        <a:t>R≤2,F≤2,M≤2 (taught)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120640" y="1508760"/>
            <a:ext cx="6583680" cy="3063240"/>
          </a:xfrm>
          <a:prstGeom prst="roundRect">
            <a:avLst>
              <a:gd name="adj" fmla="val 2388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394960" y="173736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rule: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R_Score ≤ 2 AND (F_Score ≥ 3 OR M_Score ≥ 3)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meeting condition: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out of 22 customers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÷ 22 × 100 = 31.8%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39496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394960" y="3703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₹10,170 / month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5394960" y="42519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monthly spend across the 7 At-Risk customers (C16,C17,C18,C19,C20,C21,C22)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120640" y="4709160"/>
            <a:ext cx="6583680" cy="1508760"/>
          </a:xfrm>
          <a:prstGeom prst="roundRect">
            <a:avLst>
              <a:gd name="adj" fmla="val 4848"/>
            </a:avLst>
          </a:prstGeom>
          <a:solidFill>
            <a:srgbClr val="F7F8F7"/>
          </a:solidFill>
          <a:ln w="12700">
            <a:solidFill>
              <a:srgbClr val="F7F8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349240" y="484632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Course-framework alignment: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strict classroom rule (AND logic, threshold 4) returns 0 At-Risk matches on this smaller real sample. We relaxed to OR logic / threshold 3 so genuinely disengaging high-value customers are still flagged — full reasoning in the supporting Excel's Methodology sheet.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Sanvi Singh Shudh Shakahari Bhojnalay — CRM Retention Playbook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Retention Measures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grounded in customer/owner feedback and mapped to a lifecycle stage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776472" cy="4754880"/>
          </a:xfrm>
          <a:prstGeom prst="roundRect">
            <a:avLst>
              <a:gd name="adj" fmla="val 1937"/>
            </a:avLst>
          </a:prstGeom>
          <a:solidFill>
            <a:srgbClr val="F7F8F7"/>
          </a:solidFill>
          <a:ln w="12700">
            <a:solidFill>
              <a:srgbClr val="F7F8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45920"/>
            <a:ext cx="411480" cy="411480"/>
          </a:xfrm>
          <a:prstGeom prst="ellipse">
            <a:avLst/>
          </a:prstGeom>
          <a:solidFill>
            <a:srgbClr val="1F5C3F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weekly/monthly plan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97480"/>
            <a:ext cx="33192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plan exists — flagged by the owner and requested by a customer (C18). A simple 5/7-day upfront plan creates commitment on both sides.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4709160"/>
            <a:ext cx="3319272" cy="365760"/>
          </a:xfrm>
          <a:prstGeom prst="roundRect">
            <a:avLst>
              <a:gd name="adj" fmla="val 50000"/>
            </a:avLst>
          </a:prstGeom>
          <a:solidFill>
            <a:srgbClr val="E7F0EA"/>
          </a:solidFill>
          <a:ln w="12700">
            <a:solidFill>
              <a:srgbClr val="E7F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70916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 Retention / Growth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166360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no structure, price sensitivity (C4, C21)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776472" cy="4754880"/>
          </a:xfrm>
          <a:prstGeom prst="roundRect">
            <a:avLst>
              <a:gd name="adj" fmla="val 1937"/>
            </a:avLst>
          </a:prstGeom>
          <a:solidFill>
            <a:srgbClr val="F7F8F7"/>
          </a:solidFill>
          <a:ln w="12700">
            <a:solidFill>
              <a:srgbClr val="F7F8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645920"/>
            <a:ext cx="411480" cy="411480"/>
          </a:xfrm>
          <a:prstGeom prst="ellipse">
            <a:avLst/>
          </a:prstGeom>
          <a:solidFill>
            <a:srgbClr val="1F5C3F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121408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timing &amp; freshness commitment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697480"/>
            <a:ext cx="33192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(C2,C7,C16), freshness (C17), inconsistent taste (C22), oiliness (C10,C20) were cited. Fixed slots + same-day-cooked commitment targets this directly.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26280" y="4709160"/>
            <a:ext cx="3319272" cy="365760"/>
          </a:xfrm>
          <a:prstGeom prst="roundRect">
            <a:avLst>
              <a:gd name="adj" fmla="val 50000"/>
            </a:avLst>
          </a:prstGeom>
          <a:solidFill>
            <a:srgbClr val="E7F0EA"/>
          </a:solidFill>
          <a:ln w="12700">
            <a:solidFill>
              <a:srgbClr val="E7F0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470916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 Retention / Growth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5166360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4+ complaints among At-Risk customers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38160" y="1463040"/>
            <a:ext cx="3776472" cy="4754880"/>
          </a:xfrm>
          <a:prstGeom prst="roundRect">
            <a:avLst>
              <a:gd name="adj" fmla="val 1937"/>
            </a:avLst>
          </a:prstGeom>
          <a:solidFill>
            <a:srgbClr val="F7F8F7"/>
          </a:solidFill>
          <a:ln w="12700">
            <a:solidFill>
              <a:srgbClr val="F7F8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1645920"/>
            <a:ext cx="411480" cy="411480"/>
          </a:xfrm>
          <a:prstGeom prst="ellipse">
            <a:avLst/>
          </a:prstGeom>
          <a:solidFill>
            <a:srgbClr val="1F5C3F"/>
          </a:solidFill>
          <a:ln w="12700">
            <a:solidFill>
              <a:srgbClr val="1F5C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6676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2121408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win-back gesture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2697480"/>
            <a:ext cx="33192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check-in call/message or a one-time discount for the 7 At-Risk customers, before they churn fully. Owner-approved for a 14-day pilot.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66760" y="4709160"/>
            <a:ext cx="3319272" cy="365760"/>
          </a:xfrm>
          <a:prstGeom prst="roundRect">
            <a:avLst>
              <a:gd name="adj" fmla="val 50000"/>
            </a:avLst>
          </a:prstGeom>
          <a:solidFill>
            <a:srgbClr val="E7F0EA"/>
          </a:solidFill>
          <a:ln w="12700">
            <a:solidFill>
              <a:srgbClr val="E7F0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66760" y="470916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 Win-back / Reactivation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5166360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₹10,170/month in at-risk spend directly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Sanvi Singh Shudh Shakahari Bhojnalay — CRM Retention Playbook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Potential Impact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Owner-approved 14-day pilot — projected figures, not guaranteed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800600"/>
          </a:xfrm>
          <a:prstGeom prst="roundRect">
            <a:avLst>
              <a:gd name="adj" fmla="val 1524"/>
            </a:avLst>
          </a:prstGeom>
          <a:solidFill>
            <a:srgbClr val="E7F0EA"/>
          </a:solidFill>
          <a:ln w="12700">
            <a:solidFill>
              <a:srgbClr val="E7F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think we can implement the At-Risk Customer Win-Back measure... For the first 14 days, we can personally contact these customers... I would prefer keeping the incentive limited so we don't unnecessarily reduce our margins.</a:t>
            </a:r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Owner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steps: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747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Contact all 7 At-Risk customers personally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Ask for feedback / reason for inactivity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Offer a small, controlled incentive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Track responses &amp; repeat orders (14 days)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Evaluate revenue recovered; decide on scaling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029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KPIs: response rate · reactivated customers · repeat-order revenue · incentive cost vs. revenue recovered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715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Pilot begins 7-Sept-2026, reviewed 21-Sept-2026. Actual results not yet available.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417320"/>
          <a:ext cx="5394960" cy="3840480"/>
        </p:xfrm>
        <a:graphic>
          <a:graphicData uri="http://schemas.openxmlformats.org/drawingml/2006/table">
            <a:tbl>
              <a:tblPr/>
              <a:tblGrid>
                <a:gridCol w="2926080"/>
                <a:gridCol w="24688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</a:rPr>
                        <a:t>At-Risk customers / spend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</a:rPr>
                        <a:t>7 customers, ₹10,170/month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860B"/>
                          </a:solidFill>
                        </a:rPr>
                        <a:t>ASSUMPTION — retention rate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8860B"/>
                          </a:solidFill>
                        </a:rPr>
                        <a:t>40% (conservative; industry range 20-50%)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E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</a:rPr>
                        <a:t>Projected customers retained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</a:rPr>
                        <a:t>≈ 3 of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1C1C"/>
                          </a:solidFill>
                        </a:rPr>
                        <a:t>Potential monthly revenue recovery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1C1C"/>
                          </a:solidFill>
                        </a:rPr>
                        <a:t>≈ ₹4,360 (NOT guaranteed)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1C1C"/>
                          </a:solidFill>
                        </a:rPr>
                        <a:t>Potential annual revenue recovery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1C1C"/>
                          </a:solidFill>
                        </a:rPr>
                        <a:t>≈ ₹52,320 (NOT guaranteed)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263640" y="544068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46520" y="55321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projected estimates based on stated assumptions, not measured outcomes. Actual revenue recovered will be tracked once the pilot ends.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Sanvi Singh Shudh Shakahari Bhojnalay — CRM Retention Playbook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Tracker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Sept 2026 — pilot runs 7 to 21 Sept 2026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1737360"/>
        </p:xfrm>
        <a:graphic>
          <a:graphicData uri="http://schemas.openxmlformats.org/drawingml/2006/table">
            <a:tbl>
              <a:tblPr/>
              <a:tblGrid>
                <a:gridCol w="4206240"/>
                <a:gridCol w="2468880"/>
                <a:gridCol w="2468880"/>
                <a:gridCol w="2103120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At-Risk customers (count)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&lt; 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Revenue at risk (₹/month)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10,170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Reduce via win-back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Potential revenue recovery (₹/month)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≈ 4,360 (projected)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Actual, once measured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Owner-Specified Success KPIs (14-day pilot)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11247120" cy="2194560"/>
        </p:xfrm>
        <a:graphic>
          <a:graphicData uri="http://schemas.openxmlformats.org/drawingml/2006/table">
            <a:tbl>
              <a:tblPr/>
              <a:tblGrid>
                <a:gridCol w="4206240"/>
                <a:gridCol w="2468880"/>
                <a:gridCol w="2468880"/>
                <a:gridCol w="21031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Customer response rate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0% (pilot not started)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Owner to assess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Pending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Number of reactivated customers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≥ 3 of 7 (projected)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Pending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Repeat-order revenue (₹)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Track actual orders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Pending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Incentive cost vs. revenue recovered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Not yet spent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Cost &lt; revenue recovered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</a:rPr>
                        <a:t>Pending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tracker with formulas is maintained in the supporting Excel workbook.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Sanvi Singh Shudh Shakahari Bhojnalay — CRM Retention Playbook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5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Inclusion &amp; Key Takeaways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Inclusion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customer names/phone numbers recorded — anonymous codes (C1-C22) only.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Informal, voluntary conversations; no customer singled out.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 sensitivity: students want discounts (C4), an elderly customer hit by a price rise (C21) — offers should stay accessible to budget-conscious customers.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Digital access: suggestions like digital payment (C20) should keep a verbal/manual option so non-tech-comfortable customers aren't excluded.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234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45920"/>
            <a:ext cx="5303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22 customers segmented via RFM — 5 Champions, 8 Needs Attention, 7 At-Risk (31.8%), 2 Lost.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At-Risk group = ₹10,170/month in combined spend — a concrete figure to act on.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retention measures proposed, each tied to real complaints and mapped to a lifecycle stage.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Owner approved a 14-day win-back pilot; potential recovery ≈ ₹4,360/month (projected, not guaranteed).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Biggest structural gap: no fixed plan or customer record system — the highest-leverage long-term fix.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126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2026-09-06T18:27:53Z</dcterms:created>
  <dcterms:modified xsi:type="dcterms:W3CDTF">2026-09-06T18:27:53Z</dcterms:modified>
</cp:coreProperties>
</file>